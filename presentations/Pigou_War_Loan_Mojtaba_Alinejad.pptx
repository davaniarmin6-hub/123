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by Mojtaba Alinejad for Professor Marcella Corsi, Department of Statistical Sciences, Sapienza University. The presentation follows Pigou’s article and explains his reasoning in student language. Historical claims are attributed to Pigou.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article is a public lecture reproduced in The Economic Journal, volume 27, number 105, pages 16–25. The scan shown is the first article page, from the uploaded PDF. The presentation focuses on what the article argues, rather than later historical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reproduces Pigou’s own bread example. His comparison is between the future goods bought with the interest and the goods surrendered initially. Do not present this as an exact modern real-interest formula. He explicitly excludes subscriptions financed by the proceeds of selling securities from his general favourable-bargain statement.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Pigou uses an explicitly rough illustration. He says adding one-ninth of the prior money circulation leaves prior money buying nine-tenths of its former goods and describes a concealed expenditure tax of 10%. His approximation should not be turned into an exact general prediction about money and prices. In his description the government acquires one-tenth of real income; the consequences of subsequent deflation are left open.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article’s closing resource argument. Pigou prefers substantially more wartime taxation, but he accepts the need for loans and asks citizens to make them effective through genuine economy. His practical conclusion is not that all government borrowing is useless. It is that the financial mechanism must be evaluated by the resources transferred and the people bearing the sacrifice.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 https://www.jstor.org/stable/2222395. Article reproduced from a lecture given on 1 February 1917. All argument page references use original journal pagination. Sapienza emblem asset source: https://github.com/andrea-gasparini/sapienza-beamer-template/blob/master/assets/logo_RGB.png. The logo is used for university identification; the presentation is a student work. Other diagrams were drawn for this presentation and should not be interpreted as quantitative historical data. No external biographical claims or unverified portrait are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Pigou (1917). The slide contains the substantive explanation; notes are not required to understand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7909560" y="0"/>
            <a:ext cx="4282135" cy="685800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sapienza.png"/>
          <p:cNvPicPr>
            <a:picLocks noChangeAspect="1"/>
          </p:cNvPicPr>
          <p:nvPr/>
        </p:nvPicPr>
        <p:blipFill>
          <a:blip r:embed="rId2"/>
          <a:stretch>
            <a:fillRect/>
          </a:stretch>
        </p:blipFill>
        <p:spPr>
          <a:xfrm>
            <a:off x="7927848" y="320040"/>
            <a:ext cx="4251960" cy="5061314"/>
          </a:xfrm>
          <a:prstGeom prst="rect">
            <a:avLst/>
          </a:prstGeom>
        </p:spPr>
      </p:pic>
      <p:sp>
        <p:nvSpPr>
          <p:cNvPr id="4" name="TextBox 3"/>
          <p:cNvSpPr txBox="1"/>
          <p:nvPr/>
        </p:nvSpPr>
        <p:spPr>
          <a:xfrm>
            <a:off x="640080" y="502920"/>
            <a:ext cx="6766560" cy="502920"/>
          </a:xfrm>
          <a:prstGeom prst="rect">
            <a:avLst/>
          </a:prstGeom>
          <a:noFill/>
        </p:spPr>
        <p:txBody>
          <a:bodyPr wrap="square" lIns="0" rIns="0" tIns="0" bIns="0">
            <a:spAutoFit/>
          </a:bodyPr>
          <a:lstStyle/>
          <a:p>
            <a:pPr>
              <a:lnSpc>
                <a:spcPct val="110000"/>
              </a:lnSpc>
              <a:spcAft>
                <a:spcPts val="700"/>
              </a:spcAft>
              <a:defRPr sz="3100" b="0">
                <a:solidFill>
                  <a:srgbClr val="822433"/>
                </a:solidFill>
                <a:latin typeface="Liberation Serif"/>
              </a:defRPr>
            </a:pPr>
            <a:r>
              <a:rPr lang="en-GB"/>
              <a:t>SAPIENZA</a:t>
            </a:r>
          </a:p>
        </p:txBody>
      </p:sp>
      <p:sp>
        <p:nvSpPr>
          <p:cNvPr id="5" name="TextBox 4"/>
          <p:cNvSpPr txBox="1"/>
          <p:nvPr/>
        </p:nvSpPr>
        <p:spPr>
          <a:xfrm>
            <a:off x="667512" y="1033271"/>
            <a:ext cx="6675120" cy="320040"/>
          </a:xfrm>
          <a:prstGeom prst="rect">
            <a:avLst/>
          </a:prstGeom>
          <a:noFill/>
        </p:spPr>
        <p:txBody>
          <a:bodyPr wrap="square" lIns="0" rIns="0" tIns="0" bIns="0">
            <a:spAutoFit/>
          </a:bodyPr>
          <a:lstStyle/>
          <a:p>
            <a:pPr>
              <a:lnSpc>
                <a:spcPct val="110000"/>
              </a:lnSpc>
              <a:spcAft>
                <a:spcPts val="700"/>
              </a:spcAft>
              <a:defRPr sz="1500" b="0">
                <a:solidFill>
                  <a:srgbClr val="822433"/>
                </a:solidFill>
                <a:latin typeface="Liberation Serif"/>
              </a:defRPr>
            </a:pPr>
            <a:r>
              <a:rPr lang="en-GB"/>
              <a:t>UNIVERSITÀ DI ROMA</a:t>
            </a:r>
          </a:p>
        </p:txBody>
      </p:sp>
      <p:sp>
        <p:nvSpPr>
          <p:cNvPr id="6" name="TextBox 5"/>
          <p:cNvSpPr txBox="1"/>
          <p:nvPr/>
        </p:nvSpPr>
        <p:spPr>
          <a:xfrm>
            <a:off x="667512" y="1536192"/>
            <a:ext cx="6675120" cy="365760"/>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Department of Statistical Sciences</a:t>
            </a:r>
          </a:p>
        </p:txBody>
      </p:sp>
      <p:sp>
        <p:nvSpPr>
          <p:cNvPr id="7" name="TextBox 6"/>
          <p:cNvSpPr txBox="1"/>
          <p:nvPr/>
        </p:nvSpPr>
        <p:spPr>
          <a:xfrm>
            <a:off x="621792" y="2322576"/>
            <a:ext cx="7040880" cy="1572768"/>
          </a:xfrm>
          <a:prstGeom prst="rect">
            <a:avLst/>
          </a:prstGeom>
          <a:noFill/>
        </p:spPr>
        <p:txBody>
          <a:bodyPr wrap="square" lIns="0" rIns="0" tIns="0" bIns="0">
            <a:spAutoFit/>
          </a:bodyPr>
          <a:lstStyle/>
          <a:p>
            <a:pPr>
              <a:lnSpc>
                <a:spcPct val="110000"/>
              </a:lnSpc>
              <a:spcAft>
                <a:spcPts val="700"/>
              </a:spcAft>
              <a:defRPr sz="3900" b="1">
                <a:solidFill>
                  <a:srgbClr val="822433"/>
                </a:solidFill>
                <a:latin typeface="Liberation Sans"/>
              </a:defRPr>
            </a:pPr>
            <a:r>
              <a:rPr lang="en-GB"/>
              <a:t>The Economics</a:t>
            </a:r>
          </a:p>
          <a:p>
            <a:pPr>
              <a:lnSpc>
                <a:spcPct val="110000"/>
              </a:lnSpc>
              <a:spcAft>
                <a:spcPts val="700"/>
              </a:spcAft>
              <a:defRPr sz="3900" b="1">
                <a:solidFill>
                  <a:srgbClr val="822433"/>
                </a:solidFill>
                <a:latin typeface="Liberation Sans"/>
              </a:defRPr>
            </a:pPr>
            <a:r>
              <a:rPr lang="en-GB"/>
              <a:t>of the War Loan</a:t>
            </a:r>
          </a:p>
        </p:txBody>
      </p:sp>
      <p:sp>
        <p:nvSpPr>
          <p:cNvPr id="8" name="TextBox 7"/>
          <p:cNvSpPr txBox="1"/>
          <p:nvPr/>
        </p:nvSpPr>
        <p:spPr>
          <a:xfrm>
            <a:off x="676656" y="4087368"/>
            <a:ext cx="6492240" cy="640080"/>
          </a:xfrm>
          <a:prstGeom prst="rect">
            <a:avLst/>
          </a:prstGeom>
          <a:noFill/>
        </p:spPr>
        <p:txBody>
          <a:bodyPr wrap="square" lIns="0" rIns="0" tIns="0" bIns="0">
            <a:spAutoFit/>
          </a:bodyPr>
          <a:lstStyle/>
          <a:p>
            <a:pPr>
              <a:lnSpc>
                <a:spcPct val="110000"/>
              </a:lnSpc>
              <a:spcAft>
                <a:spcPts val="700"/>
              </a:spcAft>
              <a:defRPr sz="1800" b="0">
                <a:solidFill>
                  <a:srgbClr val="69656A"/>
                </a:solidFill>
                <a:latin typeface="Liberation Sans"/>
              </a:defRPr>
            </a:pPr>
            <a:r>
              <a:rPr lang="en-GB"/>
              <a:t>A. C. Pigou · The Economic Journal · March 1917</a:t>
            </a:r>
          </a:p>
        </p:txBody>
      </p:sp>
      <p:cxnSp>
        <p:nvCxnSpPr>
          <p:cNvPr id="9" name="Connector 8"/>
          <p:cNvCxnSpPr/>
          <p:nvPr/>
        </p:nvCxnSpPr>
        <p:spPr>
          <a:xfrm>
            <a:off x="676656" y="4882896"/>
            <a:ext cx="6501384" cy="0"/>
          </a:xfrm>
          <a:prstGeom prst="line">
            <a:avLst/>
          </a:prstGeom>
          <a:ln w="15240">
            <a:solidFill>
              <a:srgbClr val="82243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 y="5202936"/>
            <a:ext cx="6492240" cy="365760"/>
          </a:xfrm>
          <a:prstGeom prst="rect">
            <a:avLst/>
          </a:prstGeom>
          <a:noFill/>
        </p:spPr>
        <p:txBody>
          <a:bodyPr wrap="square" lIns="0" rIns="0" tIns="0" bIns="0">
            <a:spAutoFit/>
          </a:bodyPr>
          <a:lstStyle/>
          <a:p>
            <a:pPr>
              <a:lnSpc>
                <a:spcPct val="110000"/>
              </a:lnSpc>
              <a:spcAft>
                <a:spcPts val="700"/>
              </a:spcAft>
              <a:defRPr sz="2100" b="1">
                <a:solidFill>
                  <a:srgbClr val="252329"/>
                </a:solidFill>
                <a:latin typeface="Liberation Sans"/>
              </a:defRPr>
            </a:pPr>
            <a:r>
              <a:rPr lang="en-GB"/>
              <a:t>Presented by Mojtaba Alinejad</a:t>
            </a:r>
          </a:p>
        </p:txBody>
      </p:sp>
      <p:sp>
        <p:nvSpPr>
          <p:cNvPr id="11" name="TextBox 10"/>
          <p:cNvSpPr txBox="1"/>
          <p:nvPr/>
        </p:nvSpPr>
        <p:spPr>
          <a:xfrm>
            <a:off x="676656" y="5678424"/>
            <a:ext cx="6492240" cy="36576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Professor Marcella Corsi</a:t>
            </a:r>
          </a:p>
        </p:txBody>
      </p:sp>
      <p:sp>
        <p:nvSpPr>
          <p:cNvPr id="12" name="TextBox 11"/>
          <p:cNvSpPr txBox="1"/>
          <p:nvPr/>
        </p:nvSpPr>
        <p:spPr>
          <a:xfrm>
            <a:off x="8348472" y="5870448"/>
            <a:ext cx="3383280" cy="841248"/>
          </a:xfrm>
          <a:prstGeom prst="rect">
            <a:avLst/>
          </a:prstGeom>
          <a:noFill/>
        </p:spPr>
        <p:txBody>
          <a:bodyPr wrap="square" lIns="0" rIns="0" tIns="0" bIns="0">
            <a:spAutoFit/>
          </a:bodyPr>
          <a:lstStyle/>
          <a:p>
            <a:pPr algn="ctr">
              <a:lnSpc>
                <a:spcPct val="110000"/>
              </a:lnSpc>
              <a:spcAft>
                <a:spcPts val="700"/>
              </a:spcAft>
              <a:defRPr sz="2000" b="0">
                <a:solidFill>
                  <a:srgbClr val="FFFFFF"/>
                </a:solidFill>
                <a:latin typeface="Liberation Sans"/>
              </a:defRPr>
            </a:pPr>
            <a:r>
              <a:rPr lang="en-GB"/>
              <a:t>Money, resources</a:t>
            </a:r>
          </a:p>
          <a:p>
            <a:pPr algn="ctr">
              <a:lnSpc>
                <a:spcPct val="110000"/>
              </a:lnSpc>
              <a:spcAft>
                <a:spcPts val="700"/>
              </a:spcAft>
              <a:defRPr sz="2000" b="0">
                <a:solidFill>
                  <a:srgbClr val="FFFFFF"/>
                </a:solidFill>
                <a:latin typeface="Liberation Sans"/>
              </a:defRPr>
            </a:pPr>
            <a:r>
              <a:rPr lang="en-GB"/>
              <a:t>and who bears the cost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CONTEXT</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What question is Pigou trying to answer?</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Britain, 1917: a public lecture about financing a very large war.</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The key question is who gives up real resources when the government raises money.</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16 and pp. 20–21</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02</a:t>
            </a:r>
          </a:p>
        </p:txBody>
      </p:sp>
      <p:pic>
        <p:nvPicPr>
          <p:cNvPr id="13" name="Picture 12" descr="article-page.png"/>
          <p:cNvPicPr>
            <a:picLocks noChangeAspect="1"/>
          </p:cNvPicPr>
          <p:nvPr/>
        </p:nvPicPr>
        <p:blipFill>
          <a:blip r:embed="rId2"/>
          <a:stretch>
            <a:fillRect/>
          </a:stretch>
        </p:blipFill>
        <p:spPr>
          <a:xfrm>
            <a:off x="594360" y="1847088"/>
            <a:ext cx="2049613" cy="3639312"/>
          </a:xfrm>
          <a:prstGeom prst="rect">
            <a:avLst/>
          </a:prstGeom>
        </p:spPr>
      </p:pic>
      <p:sp>
        <p:nvSpPr>
          <p:cNvPr id="14" name="TextBox 13"/>
          <p:cNvSpPr txBox="1"/>
          <p:nvPr/>
        </p:nvSpPr>
        <p:spPr>
          <a:xfrm>
            <a:off x="3419856" y="1883664"/>
            <a:ext cx="7936992" cy="411480"/>
          </a:xfrm>
          <a:prstGeom prst="rect">
            <a:avLst/>
          </a:prstGeom>
          <a:noFill/>
        </p:spPr>
        <p:txBody>
          <a:bodyPr wrap="square" lIns="0" rIns="0" tIns="0" bIns="0">
            <a:spAutoFit/>
          </a:bodyPr>
          <a:lstStyle/>
          <a:p>
            <a:pPr>
              <a:lnSpc>
                <a:spcPct val="110000"/>
              </a:lnSpc>
              <a:spcAft>
                <a:spcPts val="700"/>
              </a:spcAft>
              <a:defRPr sz="2300" b="1">
                <a:solidFill>
                  <a:srgbClr val="822433"/>
                </a:solidFill>
                <a:latin typeface="Liberation Sans"/>
              </a:defRPr>
            </a:pPr>
            <a:r>
              <a:rPr lang="en-GB"/>
              <a:t>A. C. Pigou explains two connected problems</a:t>
            </a:r>
          </a:p>
        </p:txBody>
      </p:sp>
      <p:sp>
        <p:nvSpPr>
          <p:cNvPr id="15" name="Rectangle 14"/>
          <p:cNvSpPr/>
          <p:nvPr/>
        </p:nvSpPr>
        <p:spPr>
          <a:xfrm>
            <a:off x="3419856" y="2542032"/>
            <a:ext cx="3904487" cy="214884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3419856" y="2542032"/>
            <a:ext cx="41148" cy="214884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621024" y="2706624"/>
            <a:ext cx="3502151"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The government’s choice</a:t>
            </a:r>
          </a:p>
        </p:txBody>
      </p:sp>
      <p:sp>
        <p:nvSpPr>
          <p:cNvPr id="18" name="TextBox 17"/>
          <p:cNvSpPr txBox="1"/>
          <p:nvPr/>
        </p:nvSpPr>
        <p:spPr>
          <a:xfrm>
            <a:off x="3621024" y="3346703"/>
            <a:ext cx="3502151" cy="130759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Should the war be paid for through taxes, loans, or money creation?</a:t>
            </a:r>
          </a:p>
        </p:txBody>
      </p:sp>
      <p:sp>
        <p:nvSpPr>
          <p:cNvPr id="19" name="Rectangle 18"/>
          <p:cNvSpPr/>
          <p:nvPr/>
        </p:nvSpPr>
        <p:spPr>
          <a:xfrm>
            <a:off x="7543800" y="2542032"/>
            <a:ext cx="3904487" cy="214884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7543800" y="2542032"/>
            <a:ext cx="41148" cy="214884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744968" y="2706624"/>
            <a:ext cx="3502151"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The citizen’s contribution</a:t>
            </a:r>
          </a:p>
        </p:txBody>
      </p:sp>
      <p:sp>
        <p:nvSpPr>
          <p:cNvPr id="22" name="TextBox 21"/>
          <p:cNvSpPr txBox="1"/>
          <p:nvPr/>
        </p:nvSpPr>
        <p:spPr>
          <a:xfrm>
            <a:off x="7744968" y="3346703"/>
            <a:ext cx="3502151" cy="130759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Does buying a bond mean that the buyer has personally released resources?</a:t>
            </a:r>
          </a:p>
        </p:txBody>
      </p:sp>
      <p:sp>
        <p:nvSpPr>
          <p:cNvPr id="23" name="TextBox 22"/>
          <p:cNvSpPr txBox="1"/>
          <p:nvPr/>
        </p:nvSpPr>
        <p:spPr>
          <a:xfrm>
            <a:off x="3438144" y="4928616"/>
            <a:ext cx="7955279" cy="512064"/>
          </a:xfrm>
          <a:prstGeom prst="rect">
            <a:avLst/>
          </a:prstGeom>
          <a:noFill/>
        </p:spPr>
        <p:txBody>
          <a:bodyPr wrap="square" lIns="0" rIns="0" tIns="0" bIns="0">
            <a:spAutoFit/>
          </a:bodyPr>
          <a:lstStyle/>
          <a:p>
            <a:pPr>
              <a:lnSpc>
                <a:spcPct val="110000"/>
              </a:lnSpc>
              <a:spcAft>
                <a:spcPts val="700"/>
              </a:spcAft>
              <a:defRPr sz="1900" b="0">
                <a:solidFill>
                  <a:srgbClr val="69656A"/>
                </a:solidFill>
                <a:latin typeface="Liberation Sans"/>
              </a:defRPr>
            </a:pPr>
            <a:r>
              <a:rPr lang="en-GB"/>
              <a:t>Lecture: 1 February 1917  →  Publication: March 1917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 · RESOURCES AND FINANCE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Why war requires a transfer of resources</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Because productive capacity is limited, military and private uses compete.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Using labour and materials privately leaves fewer resources available for the war.</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16–17</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03</a:t>
            </a:r>
          </a:p>
        </p:txBody>
      </p:sp>
      <p:sp>
        <p:nvSpPr>
          <p:cNvPr id="13" name="Rectangle 12"/>
          <p:cNvSpPr/>
          <p:nvPr/>
        </p:nvSpPr>
        <p:spPr>
          <a:xfrm>
            <a:off x="530352" y="1920240"/>
            <a:ext cx="3511296" cy="345643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0352" y="1920240"/>
            <a:ext cx="41148" cy="345643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31519" y="208483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What the state needs</a:t>
            </a:r>
          </a:p>
        </p:txBody>
      </p:sp>
      <p:sp>
        <p:nvSpPr>
          <p:cNvPr id="16" name="TextBox 15"/>
          <p:cNvSpPr txBox="1"/>
          <p:nvPr/>
        </p:nvSpPr>
        <p:spPr>
          <a:xfrm>
            <a:off x="731519" y="2724912"/>
            <a:ext cx="3108960" cy="2615184"/>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Soldiers, munitions, food, clothing, shelter and fuel all require labour, materials and machines.</a:t>
            </a:r>
          </a:p>
          <a:p>
            <a:pPr>
              <a:lnSpc>
                <a:spcPct val="110000"/>
              </a:lnSpc>
              <a:spcAft>
                <a:spcPts val="700"/>
              </a:spcAft>
              <a:defRPr sz="1800" b="0">
                <a:solidFill>
                  <a:srgbClr val="252329"/>
                </a:solidFill>
                <a:latin typeface="Liberation Sans"/>
              </a:defRPr>
            </a:pPr>
            <a:r>
              <a:rPr lang="en-GB"/>
              <a:t>Foreign loans and sales of foreign assets help, but Pigou expects most resources to come from home.</a:t>
            </a:r>
          </a:p>
        </p:txBody>
      </p:sp>
      <p:sp>
        <p:nvSpPr>
          <p:cNvPr id="17" name="Rectangle 16"/>
          <p:cNvSpPr/>
          <p:nvPr/>
        </p:nvSpPr>
        <p:spPr>
          <a:xfrm>
            <a:off x="4334256" y="1920240"/>
            <a:ext cx="3511296" cy="345643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334256" y="1920240"/>
            <a:ext cx="41148" cy="345643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535424" y="208483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not use force?</a:t>
            </a:r>
          </a:p>
        </p:txBody>
      </p:sp>
      <p:sp>
        <p:nvSpPr>
          <p:cNvPr id="20" name="TextBox 19"/>
          <p:cNvSpPr txBox="1"/>
          <p:nvPr/>
        </p:nvSpPr>
        <p:spPr>
          <a:xfrm>
            <a:off x="4535424" y="2724912"/>
            <a:ext cx="3108960" cy="2615184"/>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The state could allocate people directly to military and civilian tasks.</a:t>
            </a:r>
          </a:p>
          <a:p>
            <a:pPr>
              <a:lnSpc>
                <a:spcPct val="110000"/>
              </a:lnSpc>
              <a:spcAft>
                <a:spcPts val="700"/>
              </a:spcAft>
              <a:defRPr sz="1800" b="0">
                <a:solidFill>
                  <a:srgbClr val="252329"/>
                </a:solidFill>
                <a:latin typeface="Liberation Sans"/>
              </a:defRPr>
            </a:pPr>
            <a:r>
              <a:rPr lang="en-GB"/>
              <a:t>But because this requires extensive organisation, it is difficult to match each person to suitable work.</a:t>
            </a:r>
          </a:p>
        </p:txBody>
      </p:sp>
      <p:sp>
        <p:nvSpPr>
          <p:cNvPr id="21" name="Rectangle 20"/>
          <p:cNvSpPr/>
          <p:nvPr/>
        </p:nvSpPr>
        <p:spPr>
          <a:xfrm>
            <a:off x="8138160" y="1920240"/>
            <a:ext cx="3511296" cy="345643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138160" y="1920240"/>
            <a:ext cx="41148" cy="345643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39328" y="208483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offer payment?</a:t>
            </a:r>
          </a:p>
        </p:txBody>
      </p:sp>
      <p:sp>
        <p:nvSpPr>
          <p:cNvPr id="24" name="TextBox 23"/>
          <p:cNvSpPr txBox="1"/>
          <p:nvPr/>
        </p:nvSpPr>
        <p:spPr>
          <a:xfrm>
            <a:off x="8339328" y="2724912"/>
            <a:ext cx="3108960" cy="2615184"/>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Pay and patriotism encourage cooperation without allocating every worker by force.</a:t>
            </a:r>
          </a:p>
          <a:p>
            <a:pPr>
              <a:lnSpc>
                <a:spcPct val="110000"/>
              </a:lnSpc>
              <a:spcAft>
                <a:spcPts val="700"/>
              </a:spcAft>
              <a:defRPr sz="1800" b="0">
                <a:solidFill>
                  <a:srgbClr val="252329"/>
                </a:solidFill>
                <a:latin typeface="Liberation Sans"/>
              </a:defRPr>
            </a:pPr>
            <a:r>
              <a:rPr lang="en-GB"/>
              <a:t>Britain had introduced military conscription, while other war work still relied largely on paid incentives.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 · RESOURCES AND FINANCE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Why the government pays with money</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Money lets people choose what they want, but it is valuable because it buys real things.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War finance transfers command over goods and services from citizens to the state.</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17</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04</a:t>
            </a:r>
          </a:p>
        </p:txBody>
      </p:sp>
      <p:sp>
        <p:nvSpPr>
          <p:cNvPr id="13" name="Rectangle 12"/>
          <p:cNvSpPr/>
          <p:nvPr/>
        </p:nvSpPr>
        <p:spPr>
          <a:xfrm>
            <a:off x="548640" y="2084831"/>
            <a:ext cx="3346704"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231136"/>
            <a:ext cx="3035808"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People have different needs</a:t>
            </a:r>
          </a:p>
        </p:txBody>
      </p:sp>
      <p:sp>
        <p:nvSpPr>
          <p:cNvPr id="15" name="TextBox 14"/>
          <p:cNvSpPr txBox="1"/>
          <p:nvPr/>
        </p:nvSpPr>
        <p:spPr>
          <a:xfrm>
            <a:off x="704088" y="2980944"/>
            <a:ext cx="3035808"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A fixed package of food, clothes and entertainment would not suit everyone.</a:t>
            </a:r>
          </a:p>
        </p:txBody>
      </p:sp>
      <p:sp>
        <p:nvSpPr>
          <p:cNvPr id="16" name="Chevron 15"/>
          <p:cNvSpPr/>
          <p:nvPr/>
        </p:nvSpPr>
        <p:spPr>
          <a:xfrm>
            <a:off x="4014215" y="2880360"/>
            <a:ext cx="329184" cy="219456"/>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3984" y="2084831"/>
            <a:ext cx="3346704"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99432" y="2231136"/>
            <a:ext cx="3035808"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Money provides a choice</a:t>
            </a:r>
          </a:p>
        </p:txBody>
      </p:sp>
      <p:sp>
        <p:nvSpPr>
          <p:cNvPr id="19" name="TextBox 18"/>
          <p:cNvSpPr txBox="1"/>
          <p:nvPr/>
        </p:nvSpPr>
        <p:spPr>
          <a:xfrm>
            <a:off x="4599432" y="2980944"/>
            <a:ext cx="3035808"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Workers and soldiers receive purchasing power and decide how to use it.</a:t>
            </a:r>
          </a:p>
        </p:txBody>
      </p:sp>
      <p:sp>
        <p:nvSpPr>
          <p:cNvPr id="20" name="Chevron 19"/>
          <p:cNvSpPr/>
          <p:nvPr/>
        </p:nvSpPr>
        <p:spPr>
          <a:xfrm>
            <a:off x="7909560" y="2880360"/>
            <a:ext cx="329184" cy="219456"/>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339327" y="2084831"/>
            <a:ext cx="3300984"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494776" y="2231136"/>
            <a:ext cx="2990088"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Goods are the real reward</a:t>
            </a:r>
          </a:p>
        </p:txBody>
      </p:sp>
      <p:sp>
        <p:nvSpPr>
          <p:cNvPr id="23" name="TextBox 22"/>
          <p:cNvSpPr txBox="1"/>
          <p:nvPr/>
        </p:nvSpPr>
        <p:spPr>
          <a:xfrm>
            <a:off x="8494776" y="2980944"/>
            <a:ext cx="2990088"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Because money commands goods, the state must first acquire that command.</a:t>
            </a:r>
          </a:p>
        </p:txBody>
      </p:sp>
      <p:sp>
        <p:nvSpPr>
          <p:cNvPr id="24" name="TextBox 23"/>
          <p:cNvSpPr txBox="1"/>
          <p:nvPr/>
        </p:nvSpPr>
        <p:spPr>
          <a:xfrm>
            <a:off x="704088" y="4361688"/>
            <a:ext cx="10863072" cy="1188720"/>
          </a:xfrm>
          <a:prstGeom prst="rect">
            <a:avLst/>
          </a:prstGeom>
          <a:noFill/>
        </p:spPr>
        <p:txBody>
          <a:bodyPr wrap="square" lIns="0" rIns="0" tIns="0" bIns="0">
            <a:spAutoFit/>
          </a:bodyPr>
          <a:lstStyle/>
          <a:p>
            <a:pPr>
              <a:lnSpc>
                <a:spcPct val="110000"/>
              </a:lnSpc>
              <a:spcAft>
                <a:spcPts val="700"/>
              </a:spcAft>
              <a:defRPr sz="2300" b="1">
                <a:solidFill>
                  <a:srgbClr val="822433"/>
                </a:solidFill>
                <a:latin typeface="Liberation Sans"/>
              </a:defRPr>
            </a:pPr>
            <a:r>
              <a:rPr lang="en-GB"/>
              <a:t>The problem is therefore: how can the state obtain the real resources that its money is meant to buy?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 · RESOURCES AND FINANCE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Three ways to finance the war</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Pigou first separates the methods, then shows why they can overlap.</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The financial method matters because it changes who sacrifices and what follows later.</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17–20</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05</a:t>
            </a:r>
          </a:p>
        </p:txBody>
      </p:sp>
      <p:sp>
        <p:nvSpPr>
          <p:cNvPr id="13" name="Rectangle 12"/>
          <p:cNvSpPr/>
          <p:nvPr/>
        </p:nvSpPr>
        <p:spPr>
          <a:xfrm>
            <a:off x="530352" y="1965960"/>
            <a:ext cx="3511296"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0352" y="1965960"/>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31519" y="213055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1  Taxation</a:t>
            </a:r>
          </a:p>
        </p:txBody>
      </p:sp>
      <p:sp>
        <p:nvSpPr>
          <p:cNvPr id="16" name="TextBox 15"/>
          <p:cNvSpPr txBox="1"/>
          <p:nvPr/>
        </p:nvSpPr>
        <p:spPr>
          <a:xfrm>
            <a:off x="731519" y="2770632"/>
            <a:ext cx="3108960" cy="2633472"/>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Citizens surrender purchasing power without receiving a bond in return.</a:t>
            </a:r>
          </a:p>
          <a:p>
            <a:pPr>
              <a:lnSpc>
                <a:spcPct val="110000"/>
              </a:lnSpc>
              <a:spcAft>
                <a:spcPts val="700"/>
              </a:spcAft>
              <a:defRPr sz="1900" b="0">
                <a:solidFill>
                  <a:srgbClr val="252329"/>
                </a:solidFill>
                <a:latin typeface="Liberation Sans"/>
              </a:defRPr>
            </a:pPr>
            <a:r>
              <a:rPr lang="en-GB"/>
              <a:t>In a barter economy, the equivalent would be taking goods directly.</a:t>
            </a:r>
          </a:p>
        </p:txBody>
      </p:sp>
      <p:sp>
        <p:nvSpPr>
          <p:cNvPr id="17" name="Rectangle 16"/>
          <p:cNvSpPr/>
          <p:nvPr/>
        </p:nvSpPr>
        <p:spPr>
          <a:xfrm>
            <a:off x="4334256" y="1965960"/>
            <a:ext cx="3511296"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334256" y="1965960"/>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535424" y="213055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2  Borrowing</a:t>
            </a:r>
          </a:p>
        </p:txBody>
      </p:sp>
      <p:sp>
        <p:nvSpPr>
          <p:cNvPr id="20" name="TextBox 19"/>
          <p:cNvSpPr txBox="1"/>
          <p:nvPr/>
        </p:nvSpPr>
        <p:spPr>
          <a:xfrm>
            <a:off x="4535424" y="2770632"/>
            <a:ext cx="3108960" cy="2633472"/>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Citizens lend purchasing power and receive a claim to future payments.</a:t>
            </a:r>
          </a:p>
          <a:p>
            <a:pPr>
              <a:lnSpc>
                <a:spcPct val="110000"/>
              </a:lnSpc>
              <a:spcAft>
                <a:spcPts val="700"/>
              </a:spcAft>
              <a:defRPr sz="1900" b="0">
                <a:solidFill>
                  <a:srgbClr val="252329"/>
                </a:solidFill>
                <a:latin typeface="Liberation Sans"/>
              </a:defRPr>
            </a:pPr>
            <a:r>
              <a:rPr lang="en-GB"/>
              <a:t>In barter, the equivalent would be borrowing goods.</a:t>
            </a:r>
          </a:p>
        </p:txBody>
      </p:sp>
      <p:sp>
        <p:nvSpPr>
          <p:cNvPr id="21" name="Rectangle 20"/>
          <p:cNvSpPr/>
          <p:nvPr/>
        </p:nvSpPr>
        <p:spPr>
          <a:xfrm>
            <a:off x="8138160" y="1965960"/>
            <a:ext cx="3511296"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138160" y="1965960"/>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39328" y="2130552"/>
            <a:ext cx="3108960"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3  Money creation</a:t>
            </a:r>
          </a:p>
        </p:txBody>
      </p:sp>
      <p:sp>
        <p:nvSpPr>
          <p:cNvPr id="24" name="TextBox 23"/>
          <p:cNvSpPr txBox="1"/>
          <p:nvPr/>
        </p:nvSpPr>
        <p:spPr>
          <a:xfrm>
            <a:off x="8339328" y="2770632"/>
            <a:ext cx="3108960" cy="2633472"/>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The state or banks create notes or credit. Higher prices can then reduce the public’s purchasing power.</a:t>
            </a:r>
          </a:p>
          <a:p>
            <a:pPr>
              <a:lnSpc>
                <a:spcPct val="110000"/>
              </a:lnSpc>
              <a:spcAft>
                <a:spcPts val="700"/>
              </a:spcAft>
              <a:defRPr sz="1900" b="0">
                <a:solidFill>
                  <a:srgbClr val="252329"/>
                </a:solidFill>
                <a:latin typeface="Liberation Sans"/>
              </a:defRPr>
            </a:pPr>
            <a:r>
              <a:rPr lang="en-GB"/>
              <a:t>This route needs a monetary economy.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Taxation transfers resources immediately</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In Pigou’s initial account, taxpayers reduce their own spending by the amount paid.</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Because taxpayers spend less, the government can use resources they no longer claim.</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18</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06</a:t>
            </a:r>
          </a:p>
        </p:txBody>
      </p:sp>
      <p:sp>
        <p:nvSpPr>
          <p:cNvPr id="13" name="Rectangle 12"/>
          <p:cNvSpPr/>
          <p:nvPr/>
        </p:nvSpPr>
        <p:spPr>
          <a:xfrm>
            <a:off x="548640" y="1938528"/>
            <a:ext cx="5440680"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38528"/>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03120"/>
            <a:ext cx="5038344"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mostly the better-off?</a:t>
            </a:r>
          </a:p>
        </p:txBody>
      </p:sp>
      <p:sp>
        <p:nvSpPr>
          <p:cNvPr id="16" name="TextBox 15"/>
          <p:cNvSpPr txBox="1"/>
          <p:nvPr/>
        </p:nvSpPr>
        <p:spPr>
          <a:xfrm>
            <a:off x="749808" y="2743200"/>
            <a:ext cx="5038344" cy="2633472"/>
          </a:xfrm>
          <a:prstGeom prst="rect">
            <a:avLst/>
          </a:prstGeom>
          <a:noFill/>
        </p:spPr>
        <p:txBody>
          <a:bodyPr wrap="square" lIns="0" rIns="0" tIns="0" bIns="0">
            <a:spAutoFit/>
          </a:bodyPr>
          <a:lstStyle/>
          <a:p>
            <a:pPr>
              <a:lnSpc>
                <a:spcPct val="110000"/>
              </a:lnSpc>
              <a:spcAft>
                <a:spcPts val="700"/>
              </a:spcAft>
              <a:defRPr sz="2100" b="0">
                <a:solidFill>
                  <a:srgbClr val="252329"/>
                </a:solidFill>
                <a:latin typeface="Liberation Sans"/>
              </a:defRPr>
            </a:pPr>
            <a:r>
              <a:rPr lang="en-GB"/>
              <a:t>Poorer households have little income above necessities. Collecting large sums from them is also costly.</a:t>
            </a:r>
          </a:p>
          <a:p>
            <a:pPr>
              <a:lnSpc>
                <a:spcPct val="110000"/>
              </a:lnSpc>
              <a:spcAft>
                <a:spcPts val="700"/>
              </a:spcAft>
              <a:defRPr sz="2100" b="0">
                <a:solidFill>
                  <a:srgbClr val="252329"/>
                </a:solidFill>
                <a:latin typeface="Liberation Sans"/>
              </a:defRPr>
            </a:pPr>
            <a:r>
              <a:rPr lang="en-GB"/>
              <a:t>Therefore, Pigou expects most wartime tax revenue to come from people with greater ability to pay.</a:t>
            </a:r>
          </a:p>
        </p:txBody>
      </p:sp>
      <p:sp>
        <p:nvSpPr>
          <p:cNvPr id="17" name="TextBox 16"/>
          <p:cNvSpPr txBox="1"/>
          <p:nvPr/>
        </p:nvSpPr>
        <p:spPr>
          <a:xfrm>
            <a:off x="6419088" y="1993392"/>
            <a:ext cx="5020056" cy="77724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Less private consumption or investment</a:t>
            </a:r>
          </a:p>
        </p:txBody>
      </p:sp>
      <p:sp>
        <p:nvSpPr>
          <p:cNvPr id="18" name="TextBox 17"/>
          <p:cNvSpPr txBox="1"/>
          <p:nvPr/>
        </p:nvSpPr>
        <p:spPr>
          <a:xfrm>
            <a:off x="6419088" y="2807208"/>
            <a:ext cx="5020056" cy="93268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 Resources are released</a:t>
            </a:r>
          </a:p>
          <a:p>
            <a:pPr>
              <a:lnSpc>
                <a:spcPct val="110000"/>
              </a:lnSpc>
              <a:spcAft>
                <a:spcPts val="700"/>
              </a:spcAft>
              <a:defRPr sz="2200" b="0">
                <a:solidFill>
                  <a:srgbClr val="252329"/>
                </a:solidFill>
                <a:latin typeface="Liberation Sans"/>
              </a:defRPr>
            </a:pPr>
            <a:r>
              <a:rPr lang="en-GB"/>
              <a:t>→ The state gains purchasing power</a:t>
            </a:r>
          </a:p>
        </p:txBody>
      </p:sp>
      <p:sp>
        <p:nvSpPr>
          <p:cNvPr id="19" name="TextBox 18"/>
          <p:cNvSpPr txBox="1"/>
          <p:nvPr/>
        </p:nvSpPr>
        <p:spPr>
          <a:xfrm>
            <a:off x="6419088" y="3977639"/>
            <a:ext cx="5020056" cy="1316736"/>
          </a:xfrm>
          <a:prstGeom prst="rect">
            <a:avLst/>
          </a:prstGeom>
          <a:noFill/>
        </p:spPr>
        <p:txBody>
          <a:bodyPr wrap="square" lIns="0" rIns="0" tIns="0" bIns="0">
            <a:spAutoFit/>
          </a:bodyPr>
          <a:lstStyle/>
          <a:p>
            <a:pPr>
              <a:lnSpc>
                <a:spcPct val="110000"/>
              </a:lnSpc>
              <a:spcAft>
                <a:spcPts val="700"/>
              </a:spcAft>
              <a:defRPr sz="1900" b="0">
                <a:solidFill>
                  <a:srgbClr val="69656A"/>
                </a:solidFill>
                <a:latin typeface="Liberation Sans"/>
              </a:defRPr>
            </a:pPr>
            <a:r>
              <a:rPr lang="en-GB"/>
              <a:t>Wartime qualification: because capital cannot readily be sent abroad, Pigou expects income taxation to cause little damage through capital flight.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Borrowing changes who pays later</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Saving to buy bonds can release resources now, just as paying taxes can.</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Because future taxpayers include non-bondholders, interest can redistribute income upward.</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18–19</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07</a:t>
            </a:r>
          </a:p>
        </p:txBody>
      </p:sp>
      <p:sp>
        <p:nvSpPr>
          <p:cNvPr id="13" name="Rectangle 12"/>
          <p:cNvSpPr/>
          <p:nvPr/>
        </p:nvSpPr>
        <p:spPr>
          <a:xfrm>
            <a:off x="539496" y="1947672"/>
            <a:ext cx="5413248" cy="2322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9496" y="1947672"/>
            <a:ext cx="41148" cy="2322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0664" y="2112264"/>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Today: lenders give up spending</a:t>
            </a:r>
          </a:p>
        </p:txBody>
      </p:sp>
      <p:sp>
        <p:nvSpPr>
          <p:cNvPr id="16" name="TextBox 15"/>
          <p:cNvSpPr txBox="1"/>
          <p:nvPr/>
        </p:nvSpPr>
        <p:spPr>
          <a:xfrm>
            <a:off x="740664" y="2752344"/>
            <a:ext cx="5010912" cy="1481328"/>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Most lending comes from the better-off. If they spend less to subscribe, they release resources for the government.</a:t>
            </a:r>
          </a:p>
        </p:txBody>
      </p:sp>
      <p:sp>
        <p:nvSpPr>
          <p:cNvPr id="17" name="Rectangle 16"/>
          <p:cNvSpPr/>
          <p:nvPr/>
        </p:nvSpPr>
        <p:spPr>
          <a:xfrm>
            <a:off x="6227064" y="1947672"/>
            <a:ext cx="5413248" cy="2322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27064" y="1947672"/>
            <a:ext cx="41148" cy="2322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28231" y="2112264"/>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Later: taxes finance the interest</a:t>
            </a:r>
          </a:p>
        </p:txBody>
      </p:sp>
      <p:sp>
        <p:nvSpPr>
          <p:cNvPr id="20" name="TextBox 19"/>
          <p:cNvSpPr txBox="1"/>
          <p:nvPr/>
        </p:nvSpPr>
        <p:spPr>
          <a:xfrm>
            <a:off x="6428231" y="2752344"/>
            <a:ext cx="5010912" cy="1481328"/>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Peacetime taxes reach more people. Poorer citizens who own no bonds may therefore help pay interest to wealthier lenders.</a:t>
            </a:r>
          </a:p>
        </p:txBody>
      </p:sp>
      <p:sp>
        <p:nvSpPr>
          <p:cNvPr id="21" name="TextBox 20"/>
          <p:cNvSpPr txBox="1"/>
          <p:nvPr/>
        </p:nvSpPr>
        <p:spPr>
          <a:xfrm>
            <a:off x="731520" y="4572000"/>
            <a:ext cx="10789920" cy="896112"/>
          </a:xfrm>
          <a:prstGeom prst="rect">
            <a:avLst/>
          </a:prstGeom>
          <a:noFill/>
        </p:spPr>
        <p:txBody>
          <a:bodyPr wrap="square" lIns="0" rIns="0" tIns="0" bIns="0">
            <a:spAutoFit/>
          </a:bodyPr>
          <a:lstStyle/>
          <a:p>
            <a:pPr>
              <a:lnSpc>
                <a:spcPct val="110000"/>
              </a:lnSpc>
              <a:spcAft>
                <a:spcPts val="700"/>
              </a:spcAft>
              <a:defRPr sz="2000" b="0">
                <a:solidFill>
                  <a:srgbClr val="69656A"/>
                </a:solidFill>
                <a:latin typeface="Liberation Sans"/>
              </a:defRPr>
            </a:pPr>
            <a:r>
              <a:rPr lang="en-GB"/>
              <a:t>Theoretical exception: if every lender paid extra taxes equal to their interest receipts, the benefit would cancel out. Pigou says this is not how tax systems work in practice.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The bread example: what does 5% really buy?</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Pigou expects prices to fall after the war, increasing the purchasing power of interest.</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If later prices are lower, the same interest payment buys more goods than it did during war.</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19</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08</a:t>
            </a:r>
          </a:p>
        </p:txBody>
      </p:sp>
      <p:sp>
        <p:nvSpPr>
          <p:cNvPr id="13" name="Rectangle 12"/>
          <p:cNvSpPr/>
          <p:nvPr/>
        </p:nvSpPr>
        <p:spPr>
          <a:xfrm>
            <a:off x="548640" y="1956816"/>
            <a:ext cx="5349240" cy="222199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45352" y="1956816"/>
            <a:ext cx="5349240" cy="2221992"/>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77240" y="2139696"/>
            <a:ext cx="4892040" cy="320040"/>
          </a:xfrm>
          <a:prstGeom prst="rect">
            <a:avLst/>
          </a:prstGeom>
          <a:noFill/>
        </p:spPr>
        <p:txBody>
          <a:bodyPr wrap="square" lIns="0" rIns="0" tIns="0" bIns="0">
            <a:spAutoFit/>
          </a:bodyPr>
          <a:lstStyle/>
          <a:p>
            <a:pPr>
              <a:lnSpc>
                <a:spcPct val="110000"/>
              </a:lnSpc>
              <a:spcAft>
                <a:spcPts val="700"/>
              </a:spcAft>
              <a:defRPr sz="1400" b="1">
                <a:solidFill>
                  <a:srgbClr val="822433"/>
                </a:solidFill>
                <a:latin typeface="Liberation Sans"/>
              </a:defRPr>
            </a:pPr>
            <a:r>
              <a:rPr lang="en-GB"/>
              <a:t>AT THE TIME OF LENDING</a:t>
            </a:r>
          </a:p>
        </p:txBody>
      </p:sp>
      <p:sp>
        <p:nvSpPr>
          <p:cNvPr id="16" name="TextBox 15"/>
          <p:cNvSpPr txBox="1"/>
          <p:nvPr/>
        </p:nvSpPr>
        <p:spPr>
          <a:xfrm>
            <a:off x="786384" y="2660904"/>
            <a:ext cx="4864608" cy="640080"/>
          </a:xfrm>
          <a:prstGeom prst="rect">
            <a:avLst/>
          </a:prstGeom>
          <a:noFill/>
        </p:spPr>
        <p:txBody>
          <a:bodyPr wrap="square" lIns="0" rIns="0" tIns="0" bIns="0">
            <a:spAutoFit/>
          </a:bodyPr>
          <a:lstStyle/>
          <a:p>
            <a:pPr algn="ctr">
              <a:lnSpc>
                <a:spcPct val="110000"/>
              </a:lnSpc>
              <a:spcAft>
                <a:spcPts val="700"/>
              </a:spcAft>
              <a:defRPr sz="3900" b="1">
                <a:solidFill>
                  <a:srgbClr val="822433"/>
                </a:solidFill>
                <a:latin typeface="Liberation Sans"/>
              </a:defRPr>
            </a:pPr>
            <a:r>
              <a:rPr lang="en-GB"/>
              <a:t>100 shillings</a:t>
            </a:r>
          </a:p>
        </p:txBody>
      </p:sp>
      <p:sp>
        <p:nvSpPr>
          <p:cNvPr id="17" name="TextBox 16"/>
          <p:cNvSpPr txBox="1"/>
          <p:nvPr/>
        </p:nvSpPr>
        <p:spPr>
          <a:xfrm>
            <a:off x="786384" y="3456432"/>
            <a:ext cx="4864608" cy="640080"/>
          </a:xfrm>
          <a:prstGeom prst="rect">
            <a:avLst/>
          </a:prstGeom>
          <a:noFill/>
        </p:spPr>
        <p:txBody>
          <a:bodyPr wrap="square" lIns="0" rIns="0" tIns="0" bIns="0">
            <a:spAutoFit/>
          </a:bodyPr>
          <a:lstStyle/>
          <a:p>
            <a:pPr algn="ctr">
              <a:lnSpc>
                <a:spcPct val="110000"/>
              </a:lnSpc>
              <a:spcAft>
                <a:spcPts val="700"/>
              </a:spcAft>
              <a:defRPr sz="1800" b="0">
                <a:solidFill>
                  <a:srgbClr val="252329"/>
                </a:solidFill>
                <a:latin typeface="Liberation Sans"/>
              </a:defRPr>
            </a:pPr>
            <a:r>
              <a:rPr lang="en-GB"/>
              <a:t>Sacrifice: the ability to buy 100 loaves</a:t>
            </a:r>
          </a:p>
        </p:txBody>
      </p:sp>
      <p:sp>
        <p:nvSpPr>
          <p:cNvPr id="18" name="TextBox 17"/>
          <p:cNvSpPr txBox="1"/>
          <p:nvPr/>
        </p:nvSpPr>
        <p:spPr>
          <a:xfrm>
            <a:off x="6473952" y="2139696"/>
            <a:ext cx="4892040" cy="320040"/>
          </a:xfrm>
          <a:prstGeom prst="rect">
            <a:avLst/>
          </a:prstGeom>
          <a:noFill/>
        </p:spPr>
        <p:txBody>
          <a:bodyPr wrap="square" lIns="0" rIns="0" tIns="0" bIns="0">
            <a:spAutoFit/>
          </a:bodyPr>
          <a:lstStyle/>
          <a:p>
            <a:pPr>
              <a:lnSpc>
                <a:spcPct val="110000"/>
              </a:lnSpc>
              <a:spcAft>
                <a:spcPts val="700"/>
              </a:spcAft>
              <a:defRPr sz="1400" b="1">
                <a:solidFill>
                  <a:srgbClr val="822433"/>
                </a:solidFill>
                <a:latin typeface="Liberation Sans"/>
              </a:defRPr>
            </a:pPr>
            <a:r>
              <a:rPr lang="en-GB"/>
              <a:t>WHEN ANNUAL INTEREST IS PAID</a:t>
            </a:r>
          </a:p>
        </p:txBody>
      </p:sp>
      <p:sp>
        <p:nvSpPr>
          <p:cNvPr id="19" name="TextBox 18"/>
          <p:cNvSpPr txBox="1"/>
          <p:nvPr/>
        </p:nvSpPr>
        <p:spPr>
          <a:xfrm>
            <a:off x="6483096" y="2660904"/>
            <a:ext cx="4864608" cy="640080"/>
          </a:xfrm>
          <a:prstGeom prst="rect">
            <a:avLst/>
          </a:prstGeom>
          <a:noFill/>
        </p:spPr>
        <p:txBody>
          <a:bodyPr wrap="square" lIns="0" rIns="0" tIns="0" bIns="0">
            <a:spAutoFit/>
          </a:bodyPr>
          <a:lstStyle/>
          <a:p>
            <a:pPr algn="ctr">
              <a:lnSpc>
                <a:spcPct val="110000"/>
              </a:lnSpc>
              <a:spcAft>
                <a:spcPts val="700"/>
              </a:spcAft>
              <a:defRPr sz="3900" b="1">
                <a:solidFill>
                  <a:srgbClr val="822433"/>
                </a:solidFill>
                <a:latin typeface="Liberation Sans"/>
              </a:defRPr>
            </a:pPr>
            <a:r>
              <a:rPr lang="en-GB"/>
              <a:t>5 shillings</a:t>
            </a:r>
          </a:p>
        </p:txBody>
      </p:sp>
      <p:sp>
        <p:nvSpPr>
          <p:cNvPr id="20" name="TextBox 19"/>
          <p:cNvSpPr txBox="1"/>
          <p:nvPr/>
        </p:nvSpPr>
        <p:spPr>
          <a:xfrm>
            <a:off x="6483096" y="3456432"/>
            <a:ext cx="4864608" cy="640080"/>
          </a:xfrm>
          <a:prstGeom prst="rect">
            <a:avLst/>
          </a:prstGeom>
          <a:noFill/>
        </p:spPr>
        <p:txBody>
          <a:bodyPr wrap="square" lIns="0" rIns="0" tIns="0" bIns="0">
            <a:spAutoFit/>
          </a:bodyPr>
          <a:lstStyle/>
          <a:p>
            <a:pPr algn="ctr">
              <a:lnSpc>
                <a:spcPct val="110000"/>
              </a:lnSpc>
              <a:spcAft>
                <a:spcPts val="700"/>
              </a:spcAft>
              <a:defRPr sz="1800" b="0">
                <a:solidFill>
                  <a:srgbClr val="252329"/>
                </a:solidFill>
                <a:latin typeface="Liberation Sans"/>
              </a:defRPr>
            </a:pPr>
            <a:r>
              <a:rPr lang="en-GB"/>
              <a:t>With lower prices: buys more than 5 loaves</a:t>
            </a:r>
          </a:p>
        </p:txBody>
      </p:sp>
      <p:sp>
        <p:nvSpPr>
          <p:cNvPr id="21" name="TextBox 20"/>
          <p:cNvSpPr txBox="1"/>
          <p:nvPr/>
        </p:nvSpPr>
        <p:spPr>
          <a:xfrm>
            <a:off x="740664" y="4489704"/>
            <a:ext cx="10835640" cy="1051560"/>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Therefore, the annual interest can represent more than 5% of the goods originally sacrificed. This relies on expected deflation; it is not a guaranteed outcome. Pigou excepts subscriptions funded by selling existing securities from this broad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Why Pigou thinks debt can weaken future production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The issue is how long people expect the associated taxes to continue.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In Pigou’s view, continuing debt-service taxes weaken incentives more than temporary war taxes.</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19</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09</a:t>
            </a:r>
          </a:p>
        </p:txBody>
      </p:sp>
      <p:sp>
        <p:nvSpPr>
          <p:cNvPr id="13" name="Rectangle 12"/>
          <p:cNvSpPr/>
          <p:nvPr/>
        </p:nvSpPr>
        <p:spPr>
          <a:xfrm>
            <a:off x="548640" y="1975104"/>
            <a:ext cx="5413248" cy="341985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75104"/>
            <a:ext cx="41148" cy="341985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39696"/>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Temporary wartime taxation</a:t>
            </a:r>
          </a:p>
        </p:txBody>
      </p:sp>
      <p:sp>
        <p:nvSpPr>
          <p:cNvPr id="16" name="TextBox 15"/>
          <p:cNvSpPr txBox="1"/>
          <p:nvPr/>
        </p:nvSpPr>
        <p:spPr>
          <a:xfrm>
            <a:off x="749808" y="2779776"/>
            <a:ext cx="5010912" cy="257860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Because the levy is an emergency measure, people do not expect it to last.</a:t>
            </a:r>
          </a:p>
          <a:p>
            <a:pPr>
              <a:lnSpc>
                <a:spcPct val="110000"/>
              </a:lnSpc>
              <a:spcAft>
                <a:spcPts val="700"/>
              </a:spcAft>
              <a:defRPr sz="2200" b="0">
                <a:solidFill>
                  <a:srgbClr val="252329"/>
                </a:solidFill>
                <a:latin typeface="Liberation Sans"/>
              </a:defRPr>
            </a:pPr>
            <a:r>
              <a:rPr lang="en-GB"/>
              <a:t>Pigou therefore expects little lasting reduction in the incentives to work and save.</a:t>
            </a:r>
          </a:p>
        </p:txBody>
      </p:sp>
      <p:sp>
        <p:nvSpPr>
          <p:cNvPr id="17" name="Rectangle 16"/>
          <p:cNvSpPr/>
          <p:nvPr/>
        </p:nvSpPr>
        <p:spPr>
          <a:xfrm>
            <a:off x="6236208" y="1975104"/>
            <a:ext cx="5413248" cy="341985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36208" y="1975104"/>
            <a:ext cx="41148" cy="341985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37376" y="2139696"/>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Borrowing with future interest</a:t>
            </a:r>
          </a:p>
        </p:txBody>
      </p:sp>
      <p:sp>
        <p:nvSpPr>
          <p:cNvPr id="20" name="TextBox 19"/>
          <p:cNvSpPr txBox="1"/>
          <p:nvPr/>
        </p:nvSpPr>
        <p:spPr>
          <a:xfrm>
            <a:off x="6437376" y="2779776"/>
            <a:ext cx="5010912" cy="257860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Because interest must be paid regularly, taxes continue after the war.</a:t>
            </a:r>
          </a:p>
          <a:p>
            <a:pPr>
              <a:lnSpc>
                <a:spcPct val="110000"/>
              </a:lnSpc>
              <a:spcAft>
                <a:spcPts val="700"/>
              </a:spcAft>
              <a:defRPr sz="2200" b="0">
                <a:solidFill>
                  <a:srgbClr val="252329"/>
                </a:solidFill>
                <a:latin typeface="Liberation Sans"/>
              </a:defRPr>
            </a:pPr>
            <a:r>
              <a:rPr lang="en-GB"/>
              <a:t>These taxes absorb part of future earnings, so Pigou expects weaker incentives to work and accumulate capital.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Inflation acts like a concealed tax</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New notes or bank credit let the government spend while private spending may continue.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The public keeps its money, but higher prices make it surrender some purchasing power.</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19–20</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10</a:t>
            </a:r>
          </a:p>
        </p:txBody>
      </p:sp>
      <p:sp>
        <p:nvSpPr>
          <p:cNvPr id="13" name="Rectangle 12"/>
          <p:cNvSpPr/>
          <p:nvPr/>
        </p:nvSpPr>
        <p:spPr>
          <a:xfrm>
            <a:off x="548640" y="1929384"/>
            <a:ext cx="3657600" cy="355701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29384"/>
            <a:ext cx="41148" cy="355701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093976"/>
            <a:ext cx="3255264"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The mechanism</a:t>
            </a:r>
          </a:p>
        </p:txBody>
      </p:sp>
      <p:sp>
        <p:nvSpPr>
          <p:cNvPr id="16" name="TextBox 15"/>
          <p:cNvSpPr txBox="1"/>
          <p:nvPr/>
        </p:nvSpPr>
        <p:spPr>
          <a:xfrm>
            <a:off x="749808" y="2734056"/>
            <a:ext cx="3255264" cy="2715768"/>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More money competes for limited resources.</a:t>
            </a:r>
          </a:p>
          <a:p>
            <a:pPr>
              <a:lnSpc>
                <a:spcPct val="110000"/>
              </a:lnSpc>
              <a:spcAft>
                <a:spcPts val="700"/>
              </a:spcAft>
              <a:defRPr sz="2000" b="0">
                <a:solidFill>
                  <a:srgbClr val="252329"/>
                </a:solidFill>
                <a:latin typeface="Liberation Sans"/>
              </a:defRPr>
            </a:pPr>
            <a:r>
              <a:rPr lang="en-GB"/>
              <a:t>Prices rise, so each existing pound buys less.</a:t>
            </a:r>
          </a:p>
          <a:p>
            <a:pPr>
              <a:lnSpc>
                <a:spcPct val="110000"/>
              </a:lnSpc>
              <a:spcAft>
                <a:spcPts val="700"/>
              </a:spcAft>
              <a:defRPr sz="2000" b="0">
                <a:solidFill>
                  <a:srgbClr val="252329"/>
                </a:solidFill>
                <a:latin typeface="Liberation Sans"/>
              </a:defRPr>
            </a:pPr>
            <a:r>
              <a:rPr lang="en-GB"/>
              <a:t>The state gains resources because the public loses purchasing power.</a:t>
            </a:r>
          </a:p>
        </p:txBody>
      </p:sp>
      <p:sp>
        <p:nvSpPr>
          <p:cNvPr id="17" name="Rectangle 16"/>
          <p:cNvSpPr/>
          <p:nvPr/>
        </p:nvSpPr>
        <p:spPr>
          <a:xfrm>
            <a:off x="4489704" y="1929384"/>
            <a:ext cx="3017520" cy="355701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90872" y="2112264"/>
            <a:ext cx="2606040" cy="457200"/>
          </a:xfrm>
          <a:prstGeom prst="rect">
            <a:avLst/>
          </a:prstGeom>
          <a:noFill/>
        </p:spPr>
        <p:txBody>
          <a:bodyPr wrap="square" lIns="0" rIns="0" tIns="0" bIns="0">
            <a:spAutoFit/>
          </a:bodyPr>
          <a:lstStyle/>
          <a:p>
            <a:pPr>
              <a:lnSpc>
                <a:spcPct val="110000"/>
              </a:lnSpc>
              <a:spcAft>
                <a:spcPts val="700"/>
              </a:spcAft>
              <a:defRPr sz="2000" b="1">
                <a:solidFill>
                  <a:srgbClr val="822433"/>
                </a:solidFill>
                <a:latin typeface="Liberation Sans"/>
              </a:defRPr>
            </a:pPr>
            <a:r>
              <a:rPr lang="en-GB"/>
              <a:t>Pigou’s illustration</a:t>
            </a:r>
          </a:p>
        </p:txBody>
      </p:sp>
      <p:sp>
        <p:nvSpPr>
          <p:cNvPr id="19" name="TextBox 18"/>
          <p:cNvSpPr txBox="1"/>
          <p:nvPr/>
        </p:nvSpPr>
        <p:spPr>
          <a:xfrm>
            <a:off x="4690872" y="2743200"/>
            <a:ext cx="2606040" cy="640080"/>
          </a:xfrm>
          <a:prstGeom prst="rect">
            <a:avLst/>
          </a:prstGeom>
          <a:noFill/>
        </p:spPr>
        <p:txBody>
          <a:bodyPr wrap="square" lIns="0" rIns="0" tIns="0" bIns="0">
            <a:spAutoFit/>
          </a:bodyPr>
          <a:lstStyle/>
          <a:p>
            <a:pPr algn="ctr">
              <a:lnSpc>
                <a:spcPct val="110000"/>
              </a:lnSpc>
              <a:spcAft>
                <a:spcPts val="700"/>
              </a:spcAft>
              <a:defRPr sz="3900" b="1">
                <a:solidFill>
                  <a:srgbClr val="822433"/>
                </a:solidFill>
                <a:latin typeface="Liberation Sans"/>
              </a:defRPr>
            </a:pPr>
            <a:r>
              <a:rPr lang="en-GB"/>
              <a:t>+ 1/9</a:t>
            </a:r>
          </a:p>
        </p:txBody>
      </p:sp>
      <p:sp>
        <p:nvSpPr>
          <p:cNvPr id="20" name="TextBox 19"/>
          <p:cNvSpPr txBox="1"/>
          <p:nvPr/>
        </p:nvSpPr>
        <p:spPr>
          <a:xfrm>
            <a:off x="4690872" y="3538728"/>
            <a:ext cx="2606040" cy="640080"/>
          </a:xfrm>
          <a:prstGeom prst="rect">
            <a:avLst/>
          </a:prstGeom>
          <a:noFill/>
        </p:spPr>
        <p:txBody>
          <a:bodyPr wrap="square" lIns="0" rIns="0" tIns="0" bIns="0">
            <a:spAutoFit/>
          </a:bodyPr>
          <a:lstStyle/>
          <a:p>
            <a:pPr algn="ctr">
              <a:lnSpc>
                <a:spcPct val="110000"/>
              </a:lnSpc>
              <a:spcAft>
                <a:spcPts val="700"/>
              </a:spcAft>
              <a:defRPr sz="1800" b="0">
                <a:solidFill>
                  <a:srgbClr val="252329"/>
                </a:solidFill>
                <a:latin typeface="Liberation Sans"/>
              </a:defRPr>
            </a:pPr>
            <a:r>
              <a:rPr lang="en-GB"/>
              <a:t>new money relative to the old circulation</a:t>
            </a:r>
          </a:p>
        </p:txBody>
      </p:sp>
      <p:sp>
        <p:nvSpPr>
          <p:cNvPr id="21" name="TextBox 20"/>
          <p:cNvSpPr txBox="1"/>
          <p:nvPr/>
        </p:nvSpPr>
        <p:spPr>
          <a:xfrm>
            <a:off x="4736592" y="4379976"/>
            <a:ext cx="2542032" cy="1051560"/>
          </a:xfrm>
          <a:prstGeom prst="rect">
            <a:avLst/>
          </a:prstGeom>
          <a:noFill/>
        </p:spPr>
        <p:txBody>
          <a:bodyPr wrap="square" lIns="0" rIns="0" tIns="0" bIns="0">
            <a:spAutoFit/>
          </a:bodyPr>
          <a:lstStyle/>
          <a:p>
            <a:pPr algn="ctr">
              <a:lnSpc>
                <a:spcPct val="110000"/>
              </a:lnSpc>
              <a:spcAft>
                <a:spcPts val="700"/>
              </a:spcAft>
              <a:defRPr sz="2100" b="1">
                <a:solidFill>
                  <a:srgbClr val="822433"/>
                </a:solidFill>
                <a:latin typeface="Liberation Sans"/>
              </a:defRPr>
            </a:pPr>
            <a:r>
              <a:rPr lang="en-GB"/>
              <a:t>Existing money buys roughly 9/10 as much.</a:t>
            </a:r>
          </a:p>
        </p:txBody>
      </p:sp>
      <p:sp>
        <p:nvSpPr>
          <p:cNvPr id="22" name="TextBox 21"/>
          <p:cNvSpPr txBox="1"/>
          <p:nvPr/>
        </p:nvSpPr>
        <p:spPr>
          <a:xfrm>
            <a:off x="7827264" y="2029968"/>
            <a:ext cx="3703320" cy="333756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He compares this with a 10% tax proportional to expenditure.</a:t>
            </a:r>
          </a:p>
          <a:p>
            <a:pPr>
              <a:lnSpc>
                <a:spcPct val="110000"/>
              </a:lnSpc>
              <a:spcAft>
                <a:spcPts val="700"/>
              </a:spcAft>
              <a:defRPr sz="2000" b="0">
                <a:solidFill>
                  <a:srgbClr val="252329"/>
                </a:solidFill>
                <a:latin typeface="Liberation Sans"/>
              </a:defRPr>
            </a:pPr>
            <a:r>
              <a:rPr lang="en-GB"/>
              <a:t>Because poor households spend on necessities, the burden is especially severe for them.</a:t>
            </a:r>
          </a:p>
          <a:p>
            <a:pPr>
              <a:lnSpc>
                <a:spcPct val="110000"/>
              </a:lnSpc>
              <a:spcAft>
                <a:spcPts val="700"/>
              </a:spcAft>
              <a:defRPr sz="2000" b="0">
                <a:solidFill>
                  <a:srgbClr val="252329"/>
                </a:solidFill>
                <a:latin typeface="Liberation Sans"/>
              </a:defRPr>
            </a:pPr>
            <a:r>
              <a:rPr lang="en-GB"/>
              <a:t>Later effects depend on whether the currency is deflated.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 · COMPARING THE METHODS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Why Pigou wants more taxation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He recognises Britain’s tax effort, but thinks its reliance on borrowing is excessive.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His recommendation is much higher wartime taxation, distributed according to ability to pay.</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20</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11</a:t>
            </a:r>
          </a:p>
        </p:txBody>
      </p:sp>
      <p:sp>
        <p:nvSpPr>
          <p:cNvPr id="13" name="TextBox 12"/>
          <p:cNvSpPr txBox="1"/>
          <p:nvPr/>
        </p:nvSpPr>
        <p:spPr>
          <a:xfrm>
            <a:off x="676656" y="1956816"/>
            <a:ext cx="5486400" cy="137160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Britain taxed more than other belligerents and tried to limit inflation. Yet Pigou believes it still taxed too little and borrowed too much.</a:t>
            </a:r>
          </a:p>
        </p:txBody>
      </p:sp>
      <p:sp>
        <p:nvSpPr>
          <p:cNvPr id="14" name="Rectangle 13"/>
          <p:cNvSpPr/>
          <p:nvPr/>
        </p:nvSpPr>
        <p:spPr>
          <a:xfrm>
            <a:off x="548640" y="3447288"/>
            <a:ext cx="5623560" cy="1911095"/>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68096" y="3639312"/>
            <a:ext cx="5166360" cy="1627632"/>
          </a:xfrm>
          <a:prstGeom prst="rect">
            <a:avLst/>
          </a:prstGeom>
          <a:noFill/>
        </p:spPr>
        <p:txBody>
          <a:bodyPr wrap="square" lIns="0" rIns="0" tIns="0" bIns="0">
            <a:spAutoFit/>
          </a:bodyPr>
          <a:lstStyle/>
          <a:p>
            <a:pPr>
              <a:lnSpc>
                <a:spcPct val="110000"/>
              </a:lnSpc>
              <a:spcAft>
                <a:spcPts val="700"/>
              </a:spcAft>
              <a:defRPr sz="2200" b="1">
                <a:solidFill>
                  <a:srgbClr val="FFFFFF"/>
                </a:solidFill>
                <a:latin typeface="Liberation Sans"/>
              </a:defRPr>
            </a:pPr>
            <a:r>
              <a:rPr lang="en-GB"/>
              <a:t>His moral argument:</a:t>
            </a:r>
          </a:p>
          <a:p>
            <a:pPr>
              <a:lnSpc>
                <a:spcPct val="110000"/>
              </a:lnSpc>
              <a:spcAft>
                <a:spcPts val="700"/>
              </a:spcAft>
              <a:defRPr sz="2200" b="1">
                <a:solidFill>
                  <a:srgbClr val="FFFFFF"/>
                </a:solidFill>
                <a:latin typeface="Liberation Sans"/>
              </a:defRPr>
            </a:pPr>
            <a:r>
              <a:rPr lang="en-GB"/>
              <a:t>If young men can be compelled to risk their lives, older men can be required to give money rather than only lend it.</a:t>
            </a:r>
          </a:p>
        </p:txBody>
      </p:sp>
      <p:sp>
        <p:nvSpPr>
          <p:cNvPr id="16" name="Rectangle 15"/>
          <p:cNvSpPr/>
          <p:nvPr/>
        </p:nvSpPr>
        <p:spPr>
          <a:xfrm>
            <a:off x="6473952" y="1956816"/>
            <a:ext cx="5120640" cy="3401568"/>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473952" y="1956816"/>
            <a:ext cx="41148" cy="3401568"/>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75120" y="2121408"/>
            <a:ext cx="4718303"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But fairness still matters</a:t>
            </a:r>
          </a:p>
        </p:txBody>
      </p:sp>
      <p:sp>
        <p:nvSpPr>
          <p:cNvPr id="19" name="TextBox 18"/>
          <p:cNvSpPr txBox="1"/>
          <p:nvPr/>
        </p:nvSpPr>
        <p:spPr>
          <a:xfrm>
            <a:off x="6675120" y="2761488"/>
            <a:ext cx="4718303" cy="2560320"/>
          </a:xfrm>
          <a:prstGeom prst="rect">
            <a:avLst/>
          </a:prstGeom>
          <a:noFill/>
        </p:spPr>
        <p:txBody>
          <a:bodyPr wrap="square" lIns="0" rIns="0" tIns="0" bIns="0">
            <a:spAutoFit/>
          </a:bodyPr>
          <a:lstStyle/>
          <a:p>
            <a:pPr>
              <a:lnSpc>
                <a:spcPct val="110000"/>
              </a:lnSpc>
              <a:spcAft>
                <a:spcPts val="700"/>
              </a:spcAft>
              <a:defRPr sz="2100" b="0">
                <a:solidFill>
                  <a:srgbClr val="252329"/>
                </a:solidFill>
                <a:latin typeface="Liberation Sans"/>
              </a:defRPr>
            </a:pPr>
            <a:r>
              <a:rPr lang="en-GB"/>
              <a:t>A parent supporting several young children should not pay the same tax as a bachelor with an equal income.</a:t>
            </a:r>
          </a:p>
          <a:p>
            <a:pPr>
              <a:lnSpc>
                <a:spcPct val="110000"/>
              </a:lnSpc>
              <a:spcAft>
                <a:spcPts val="700"/>
              </a:spcAft>
              <a:defRPr sz="2100" b="0">
                <a:solidFill>
                  <a:srgbClr val="252329"/>
                </a:solidFill>
                <a:latin typeface="Liberation Sans"/>
              </a:defRPr>
            </a:pPr>
            <a:r>
              <a:rPr lang="en-GB"/>
              <a:t>Pigou believes fairer arrangements are possible, so he sees demanding more taxation as a patriotic duty.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Why he still supports the War Loan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Because the war is so costly, even much higher taxes would not remove the need to borrow.</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Pigou focuses on new resources for the war, rather than simply exchanging old debt claims.</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20–21</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12</a:t>
            </a:r>
          </a:p>
        </p:txBody>
      </p:sp>
      <p:sp>
        <p:nvSpPr>
          <p:cNvPr id="13" name="Rectangle 12"/>
          <p:cNvSpPr/>
          <p:nvPr/>
        </p:nvSpPr>
        <p:spPr>
          <a:xfrm>
            <a:off x="548640" y="1956816"/>
            <a:ext cx="5413248" cy="3465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56816"/>
            <a:ext cx="41148" cy="3465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21408"/>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Function 1: refinance existing debt</a:t>
            </a:r>
          </a:p>
        </p:txBody>
      </p:sp>
      <p:sp>
        <p:nvSpPr>
          <p:cNvPr id="16" name="TextBox 15"/>
          <p:cNvSpPr txBox="1"/>
          <p:nvPr/>
        </p:nvSpPr>
        <p:spPr>
          <a:xfrm>
            <a:off x="749808" y="2761488"/>
            <a:ext cx="5010912" cy="2624328"/>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Existing claims are converted into consolidated War Loan stock:</a:t>
            </a:r>
          </a:p>
          <a:p>
            <a:pPr>
              <a:lnSpc>
                <a:spcPct val="110000"/>
              </a:lnSpc>
              <a:spcAft>
                <a:spcPts val="700"/>
              </a:spcAft>
              <a:defRPr sz="2000" b="0">
                <a:solidFill>
                  <a:srgbClr val="252329"/>
                </a:solidFill>
                <a:latin typeface="Liberation Sans"/>
              </a:defRPr>
            </a:pPr>
            <a:r>
              <a:rPr lang="en-GB"/>
              <a:t>• 4½% War Loan stock</a:t>
            </a:r>
          </a:p>
          <a:p>
            <a:pPr>
              <a:lnSpc>
                <a:spcPct val="110000"/>
              </a:lnSpc>
              <a:spcAft>
                <a:spcPts val="700"/>
              </a:spcAft>
              <a:defRPr sz="2000" b="0">
                <a:solidFill>
                  <a:srgbClr val="252329"/>
                </a:solidFill>
                <a:latin typeface="Liberation Sans"/>
              </a:defRPr>
            </a:pPr>
            <a:r>
              <a:rPr lang="en-GB"/>
              <a:t>• 5% and 6% Exchequer Bonds</a:t>
            </a:r>
          </a:p>
          <a:p>
            <a:pPr>
              <a:lnSpc>
                <a:spcPct val="110000"/>
              </a:lnSpc>
              <a:spcAft>
                <a:spcPts val="700"/>
              </a:spcAft>
              <a:defRPr sz="2000" b="0">
                <a:solidFill>
                  <a:srgbClr val="252329"/>
                </a:solidFill>
                <a:latin typeface="Liberation Sans"/>
              </a:defRPr>
            </a:pPr>
            <a:r>
              <a:rPr lang="en-GB"/>
              <a:t>• Treasury Bills</a:t>
            </a:r>
          </a:p>
          <a:p>
            <a:pPr>
              <a:lnSpc>
                <a:spcPct val="110000"/>
              </a:lnSpc>
              <a:spcAft>
                <a:spcPts val="700"/>
              </a:spcAft>
              <a:defRPr sz="2000" b="0">
                <a:solidFill>
                  <a:srgbClr val="252329"/>
                </a:solidFill>
                <a:latin typeface="Liberation Sans"/>
              </a:defRPr>
            </a:pPr>
            <a:r>
              <a:rPr lang="en-GB"/>
              <a:t>This reorganises claims already held.</a:t>
            </a:r>
          </a:p>
        </p:txBody>
      </p:sp>
      <p:sp>
        <p:nvSpPr>
          <p:cNvPr id="17" name="Rectangle 16"/>
          <p:cNvSpPr/>
          <p:nvPr/>
        </p:nvSpPr>
        <p:spPr>
          <a:xfrm>
            <a:off x="6236208" y="1956816"/>
            <a:ext cx="5413248" cy="3465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36208" y="1956816"/>
            <a:ext cx="41148" cy="3465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37376" y="2121408"/>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Function 2: raise new money</a:t>
            </a:r>
          </a:p>
        </p:txBody>
      </p:sp>
      <p:sp>
        <p:nvSpPr>
          <p:cNvPr id="20" name="TextBox 19"/>
          <p:cNvSpPr txBox="1"/>
          <p:nvPr/>
        </p:nvSpPr>
        <p:spPr>
          <a:xfrm>
            <a:off x="6437376" y="2761488"/>
            <a:ext cx="5010912" cy="262432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New subscriptions give the government purchasing power to support the armies.</a:t>
            </a:r>
          </a:p>
          <a:p>
            <a:pPr>
              <a:lnSpc>
                <a:spcPct val="110000"/>
              </a:lnSpc>
              <a:spcAft>
                <a:spcPts val="700"/>
              </a:spcAft>
              <a:defRPr sz="2200" b="0">
                <a:solidFill>
                  <a:srgbClr val="252329"/>
                </a:solidFill>
                <a:latin typeface="Liberation Sans"/>
              </a:defRPr>
            </a:pPr>
            <a:r>
              <a:rPr lang="en-GB"/>
              <a:t>But because money is only a claim on resources, success depends on how subscribers obtain it and whose expenditure falls.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Genuine saving makes a genuine contribution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Saving means refraining from expenditure that would otherwise use productive resources.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When I spend less and lend the saving, I release resources and give the state command over them.</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21–22 and p. 25</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13</a:t>
            </a:r>
          </a:p>
        </p:txBody>
      </p:sp>
      <p:sp>
        <p:nvSpPr>
          <p:cNvPr id="13" name="Rectangle 12"/>
          <p:cNvSpPr/>
          <p:nvPr/>
        </p:nvSpPr>
        <p:spPr>
          <a:xfrm>
            <a:off x="548640" y="2084831"/>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23113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1  Economise</a:t>
            </a:r>
          </a:p>
        </p:txBody>
      </p:sp>
      <p:sp>
        <p:nvSpPr>
          <p:cNvPr id="15" name="TextBox 14"/>
          <p:cNvSpPr txBox="1"/>
          <p:nvPr/>
        </p:nvSpPr>
        <p:spPr>
          <a:xfrm>
            <a:off x="704088" y="298094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Reduce spending that would otherwise take place.</a:t>
            </a:r>
          </a:p>
        </p:txBody>
      </p:sp>
      <p:sp>
        <p:nvSpPr>
          <p:cNvPr id="16" name="Rectangle 15"/>
          <p:cNvSpPr/>
          <p:nvPr/>
        </p:nvSpPr>
        <p:spPr>
          <a:xfrm>
            <a:off x="3392424" y="2084831"/>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547872" y="223113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2  Release resources</a:t>
            </a:r>
          </a:p>
        </p:txBody>
      </p:sp>
      <p:sp>
        <p:nvSpPr>
          <p:cNvPr id="18" name="TextBox 17"/>
          <p:cNvSpPr txBox="1"/>
          <p:nvPr/>
        </p:nvSpPr>
        <p:spPr>
          <a:xfrm>
            <a:off x="3547872" y="298094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Labour and materials are no longer used for my purposes.</a:t>
            </a:r>
          </a:p>
        </p:txBody>
      </p:sp>
      <p:sp>
        <p:nvSpPr>
          <p:cNvPr id="19" name="Rectangle 18"/>
          <p:cNvSpPr/>
          <p:nvPr/>
        </p:nvSpPr>
        <p:spPr>
          <a:xfrm>
            <a:off x="6236208" y="2084831"/>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91656" y="223113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3  Subscribe</a:t>
            </a:r>
          </a:p>
        </p:txBody>
      </p:sp>
      <p:sp>
        <p:nvSpPr>
          <p:cNvPr id="21" name="TextBox 20"/>
          <p:cNvSpPr txBox="1"/>
          <p:nvPr/>
        </p:nvSpPr>
        <p:spPr>
          <a:xfrm>
            <a:off x="6391656" y="298094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Lend the money saved to the government.</a:t>
            </a:r>
          </a:p>
        </p:txBody>
      </p:sp>
      <p:sp>
        <p:nvSpPr>
          <p:cNvPr id="22" name="Rectangle 21"/>
          <p:cNvSpPr/>
          <p:nvPr/>
        </p:nvSpPr>
        <p:spPr>
          <a:xfrm>
            <a:off x="9079992" y="2084831"/>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235440" y="223113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4  Redirect production</a:t>
            </a:r>
          </a:p>
        </p:txBody>
      </p:sp>
      <p:sp>
        <p:nvSpPr>
          <p:cNvPr id="24" name="TextBox 23"/>
          <p:cNvSpPr txBox="1"/>
          <p:nvPr/>
        </p:nvSpPr>
        <p:spPr>
          <a:xfrm>
            <a:off x="9235440" y="298094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The government can now pay for wartime needs.</a:t>
            </a:r>
          </a:p>
        </p:txBody>
      </p:sp>
      <p:sp>
        <p:nvSpPr>
          <p:cNvPr id="25" name="Chevron 24"/>
          <p:cNvSpPr/>
          <p:nvPr/>
        </p:nvSpPr>
        <p:spPr>
          <a:xfrm>
            <a:off x="3163824" y="2862072"/>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hevron 25"/>
          <p:cNvSpPr/>
          <p:nvPr/>
        </p:nvSpPr>
        <p:spPr>
          <a:xfrm>
            <a:off x="6007608" y="2862072"/>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hevron 26"/>
          <p:cNvSpPr/>
          <p:nvPr/>
        </p:nvSpPr>
        <p:spPr>
          <a:xfrm>
            <a:off x="8851392" y="2862072"/>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13232" y="4443984"/>
            <a:ext cx="10826496" cy="116128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Pigou includes both consumption and private investment. Therefore, postponing a factory or a machine purchase can release resources, just as reducing personal consumption can.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The £100 boathouse example</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“If I spend the money, the builder may buy war bonds—so why should I save?”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Because the builder’s work is used differently, the same money can have a different real result.</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21–22</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14</a:t>
            </a:r>
          </a:p>
        </p:txBody>
      </p:sp>
      <p:sp>
        <p:nvSpPr>
          <p:cNvPr id="13" name="Rectangle 12"/>
          <p:cNvSpPr/>
          <p:nvPr/>
        </p:nvSpPr>
        <p:spPr>
          <a:xfrm>
            <a:off x="548640" y="1965960"/>
            <a:ext cx="5413248" cy="342900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36208" y="1965960"/>
            <a:ext cx="5413248" cy="3429000"/>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88136" y="2715768"/>
            <a:ext cx="1554480" cy="658368"/>
          </a:xfrm>
          <a:prstGeom prst="rect">
            <a:avLst/>
          </a:prstGeom>
          <a:solidFill>
            <a:srgbClr val="FAF8F5"/>
          </a:solidFill>
          <a:ln>
            <a:solidFill>
              <a:srgbClr val="82243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Isosceles Triangle 15"/>
          <p:cNvSpPr/>
          <p:nvPr/>
        </p:nvSpPr>
        <p:spPr>
          <a:xfrm>
            <a:off x="859536" y="2258568"/>
            <a:ext cx="2011680" cy="704088"/>
          </a:xfrm>
          <a:prstGeom prst="triangle">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700784" y="2971800"/>
            <a:ext cx="320040" cy="40233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859536" y="3502152"/>
            <a:ext cx="2011680" cy="0"/>
          </a:xfrm>
          <a:prstGeom prst="line">
            <a:avLst/>
          </a:prstGeom>
          <a:ln w="25400">
            <a:solidFill>
              <a:srgbClr val="356A6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42415" y="3621024"/>
            <a:ext cx="1645921" cy="0"/>
          </a:xfrm>
          <a:prstGeom prst="line">
            <a:avLst/>
          </a:prstGeom>
          <a:ln w="25400">
            <a:solidFill>
              <a:srgbClr val="356A6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75704" y="2715768"/>
            <a:ext cx="1554480" cy="658368"/>
          </a:xfrm>
          <a:prstGeom prst="rect">
            <a:avLst/>
          </a:prstGeom>
          <a:solidFill>
            <a:srgbClr val="FAF8F5"/>
          </a:solidFill>
          <a:ln>
            <a:solidFill>
              <a:srgbClr val="82243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Isosceles Triangle 20"/>
          <p:cNvSpPr/>
          <p:nvPr/>
        </p:nvSpPr>
        <p:spPr>
          <a:xfrm>
            <a:off x="6547104" y="2258568"/>
            <a:ext cx="2011680" cy="704088"/>
          </a:xfrm>
          <a:prstGeom prst="triangle">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388352" y="2971800"/>
            <a:ext cx="320040" cy="40233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958584" y="2944368"/>
            <a:ext cx="182880" cy="182880"/>
          </a:xfrm>
          <a:prstGeom prst="rect">
            <a:avLst/>
          </a:prstGeom>
          <a:solidFill>
            <a:srgbClr val="BA936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7964424" y="2944368"/>
            <a:ext cx="182880" cy="182880"/>
          </a:xfrm>
          <a:prstGeom prst="rect">
            <a:avLst/>
          </a:prstGeom>
          <a:solidFill>
            <a:srgbClr val="BA936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136392" y="2368296"/>
            <a:ext cx="2532888" cy="1371600"/>
          </a:xfrm>
          <a:prstGeom prst="rect">
            <a:avLst/>
          </a:prstGeom>
          <a:noFill/>
        </p:spPr>
        <p:txBody>
          <a:bodyPr wrap="square" lIns="0" rIns="0" tIns="0" bIns="0">
            <a:spAutoFit/>
          </a:bodyPr>
          <a:lstStyle/>
          <a:p>
            <a:pPr>
              <a:lnSpc>
                <a:spcPct val="110000"/>
              </a:lnSpc>
              <a:spcAft>
                <a:spcPts val="700"/>
              </a:spcAft>
              <a:defRPr sz="2400" b="1">
                <a:solidFill>
                  <a:srgbClr val="822433"/>
                </a:solidFill>
                <a:latin typeface="Liberation Sans"/>
              </a:defRPr>
            </a:pPr>
            <a:r>
              <a:rPr lang="en-GB"/>
              <a:t>£100</a:t>
            </a:r>
          </a:p>
          <a:p>
            <a:pPr>
              <a:lnSpc>
                <a:spcPct val="110000"/>
              </a:lnSpc>
              <a:spcAft>
                <a:spcPts val="700"/>
              </a:spcAft>
              <a:defRPr sz="2400" b="1">
                <a:solidFill>
                  <a:srgbClr val="822433"/>
                </a:solidFill>
                <a:latin typeface="Liberation Sans"/>
              </a:defRPr>
            </a:pPr>
            <a:r>
              <a:rPr lang="en-GB"/>
              <a:t>Private boathouse</a:t>
            </a:r>
          </a:p>
        </p:txBody>
      </p:sp>
      <p:sp>
        <p:nvSpPr>
          <p:cNvPr id="26" name="TextBox 25"/>
          <p:cNvSpPr txBox="1"/>
          <p:nvPr/>
        </p:nvSpPr>
        <p:spPr>
          <a:xfrm>
            <a:off x="8823960" y="2368296"/>
            <a:ext cx="2532888" cy="1371600"/>
          </a:xfrm>
          <a:prstGeom prst="rect">
            <a:avLst/>
          </a:prstGeom>
          <a:noFill/>
        </p:spPr>
        <p:txBody>
          <a:bodyPr wrap="square" lIns="0" rIns="0" tIns="0" bIns="0">
            <a:spAutoFit/>
          </a:bodyPr>
          <a:lstStyle/>
          <a:p>
            <a:pPr>
              <a:lnSpc>
                <a:spcPct val="110000"/>
              </a:lnSpc>
              <a:spcAft>
                <a:spcPts val="700"/>
              </a:spcAft>
              <a:defRPr sz="2400" b="1">
                <a:solidFill>
                  <a:srgbClr val="822433"/>
                </a:solidFill>
                <a:latin typeface="Liberation Sans"/>
              </a:defRPr>
            </a:pPr>
            <a:r>
              <a:rPr lang="en-GB"/>
              <a:t>£100</a:t>
            </a:r>
          </a:p>
          <a:p>
            <a:pPr>
              <a:lnSpc>
                <a:spcPct val="110000"/>
              </a:lnSpc>
              <a:spcAft>
                <a:spcPts val="700"/>
              </a:spcAft>
              <a:defRPr sz="2400" b="1">
                <a:solidFill>
                  <a:srgbClr val="822433"/>
                </a:solidFill>
                <a:latin typeface="Liberation Sans"/>
              </a:defRPr>
            </a:pPr>
            <a:r>
              <a:rPr lang="en-GB"/>
              <a:t>Army hut</a:t>
            </a:r>
          </a:p>
        </p:txBody>
      </p:sp>
      <p:sp>
        <p:nvSpPr>
          <p:cNvPr id="27" name="TextBox 26"/>
          <p:cNvSpPr txBox="1"/>
          <p:nvPr/>
        </p:nvSpPr>
        <p:spPr>
          <a:xfrm>
            <a:off x="804672" y="3941063"/>
            <a:ext cx="4901184" cy="139903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I pay the builder for my own benefit. Even if the builder saves afterward, the labour and materials have already served my private use.</a:t>
            </a:r>
          </a:p>
        </p:txBody>
      </p:sp>
      <p:sp>
        <p:nvSpPr>
          <p:cNvPr id="28" name="TextBox 27"/>
          <p:cNvSpPr txBox="1"/>
          <p:nvPr/>
        </p:nvSpPr>
        <p:spPr>
          <a:xfrm>
            <a:off x="6492240" y="3941063"/>
            <a:ext cx="4901184" cy="118872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I lend the money to the government, which hires the builder. The builder can still save, but the same work now serves the war.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The hidden assumption: did the payer spend less?</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A tax payment or bond purchase does not automatically imply an equal personal sacrifice.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Taxes and loans can also generate inflation when new bank credit replaces genuine economy.</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22</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15</a:t>
            </a:r>
          </a:p>
        </p:txBody>
      </p:sp>
      <p:sp>
        <p:nvSpPr>
          <p:cNvPr id="13" name="Rectangle 12"/>
          <p:cNvSpPr/>
          <p:nvPr/>
        </p:nvSpPr>
        <p:spPr>
          <a:xfrm>
            <a:off x="548640" y="1956816"/>
            <a:ext cx="5404104" cy="3465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56816"/>
            <a:ext cx="41148" cy="3465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21408"/>
            <a:ext cx="5001768"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The assumption in the first account</a:t>
            </a:r>
          </a:p>
        </p:txBody>
      </p:sp>
      <p:sp>
        <p:nvSpPr>
          <p:cNvPr id="16" name="TextBox 15"/>
          <p:cNvSpPr txBox="1"/>
          <p:nvPr/>
        </p:nvSpPr>
        <p:spPr>
          <a:xfrm>
            <a:off x="749808" y="2761488"/>
            <a:ext cx="5001768" cy="262432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People pay the state and reduce their own expenditure by the same amount.</a:t>
            </a:r>
          </a:p>
          <a:p>
            <a:pPr>
              <a:lnSpc>
                <a:spcPct val="110000"/>
              </a:lnSpc>
              <a:spcAft>
                <a:spcPts val="700"/>
              </a:spcAft>
              <a:defRPr sz="2200" b="0">
                <a:solidFill>
                  <a:srgbClr val="252329"/>
                </a:solidFill>
                <a:latin typeface="Liberation Sans"/>
              </a:defRPr>
            </a:pPr>
            <a:r>
              <a:rPr lang="en-GB"/>
              <a:t>But someone holding securities can use them as collateral and borrow from a bank instead.</a:t>
            </a:r>
          </a:p>
        </p:txBody>
      </p:sp>
      <p:sp>
        <p:nvSpPr>
          <p:cNvPr id="17" name="Rectangle 16"/>
          <p:cNvSpPr/>
          <p:nvPr/>
        </p:nvSpPr>
        <p:spPr>
          <a:xfrm>
            <a:off x="6245352" y="1956816"/>
            <a:ext cx="5404104" cy="346557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45352" y="1956816"/>
            <a:ext cx="41148" cy="346557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46520" y="2121408"/>
            <a:ext cx="5001768"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wartime banking matters</a:t>
            </a:r>
          </a:p>
        </p:txBody>
      </p:sp>
      <p:sp>
        <p:nvSpPr>
          <p:cNvPr id="20" name="TextBox 19"/>
          <p:cNvSpPr txBox="1"/>
          <p:nvPr/>
        </p:nvSpPr>
        <p:spPr>
          <a:xfrm>
            <a:off x="6446520" y="2761488"/>
            <a:ext cx="5001768" cy="2624328"/>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Currency notes circulate, and demanding gold conversion is treated as unpatriotic.</a:t>
            </a:r>
          </a:p>
          <a:p>
            <a:pPr>
              <a:lnSpc>
                <a:spcPct val="110000"/>
              </a:lnSpc>
              <a:spcAft>
                <a:spcPts val="700"/>
              </a:spcAft>
              <a:defRPr sz="2200" b="0">
                <a:solidFill>
                  <a:srgbClr val="252329"/>
                </a:solidFill>
                <a:latin typeface="Liberation Sans"/>
              </a:defRPr>
            </a:pPr>
            <a:r>
              <a:rPr lang="en-GB"/>
              <a:t>With less pressure on the gold reserve, banks can expand credit more than they would normally dare.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Borrow £100, lend £100—but who sacrifices?</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Assume the subscriber borrows from a bank and does not reduce private expenditure.</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The subscriber supplies the money; inflation makes the wider public supply the real sacrifice.</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22–23</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16</a:t>
            </a:r>
          </a:p>
        </p:txBody>
      </p:sp>
      <p:sp>
        <p:nvSpPr>
          <p:cNvPr id="13" name="Rectangle 12"/>
          <p:cNvSpPr/>
          <p:nvPr/>
        </p:nvSpPr>
        <p:spPr>
          <a:xfrm>
            <a:off x="548640" y="2039112"/>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18541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Bank creates credit</a:t>
            </a:r>
          </a:p>
        </p:txBody>
      </p:sp>
      <p:sp>
        <p:nvSpPr>
          <p:cNvPr id="15" name="TextBox 14"/>
          <p:cNvSpPr txBox="1"/>
          <p:nvPr/>
        </p:nvSpPr>
        <p:spPr>
          <a:xfrm>
            <a:off x="704088" y="293522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The subscriber receives a £100 bank loan.</a:t>
            </a:r>
          </a:p>
        </p:txBody>
      </p:sp>
      <p:sp>
        <p:nvSpPr>
          <p:cNvPr id="16" name="Rectangle 15"/>
          <p:cNvSpPr/>
          <p:nvPr/>
        </p:nvSpPr>
        <p:spPr>
          <a:xfrm>
            <a:off x="3392424" y="2039112"/>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547872" y="218541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State receives £100</a:t>
            </a:r>
          </a:p>
        </p:txBody>
      </p:sp>
      <p:sp>
        <p:nvSpPr>
          <p:cNvPr id="18" name="TextBox 17"/>
          <p:cNvSpPr txBox="1"/>
          <p:nvPr/>
        </p:nvSpPr>
        <p:spPr>
          <a:xfrm>
            <a:off x="3547872" y="293522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The subscriber buys War Loan stock.</a:t>
            </a:r>
          </a:p>
        </p:txBody>
      </p:sp>
      <p:sp>
        <p:nvSpPr>
          <p:cNvPr id="19" name="Rectangle 18"/>
          <p:cNvSpPr/>
          <p:nvPr/>
        </p:nvSpPr>
        <p:spPr>
          <a:xfrm>
            <a:off x="6236208" y="2039112"/>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91656" y="218541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Total spending rises</a:t>
            </a:r>
          </a:p>
        </p:txBody>
      </p:sp>
      <p:sp>
        <p:nvSpPr>
          <p:cNvPr id="21" name="TextBox 20"/>
          <p:cNvSpPr txBox="1"/>
          <p:nvPr/>
        </p:nvSpPr>
        <p:spPr>
          <a:xfrm>
            <a:off x="6391656" y="293522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The state spends more while private spending continues.</a:t>
            </a:r>
          </a:p>
        </p:txBody>
      </p:sp>
      <p:sp>
        <p:nvSpPr>
          <p:cNvPr id="22" name="Rectangle 21"/>
          <p:cNvSpPr/>
          <p:nvPr/>
        </p:nvSpPr>
        <p:spPr>
          <a:xfrm>
            <a:off x="9079992" y="2039112"/>
            <a:ext cx="2560320" cy="21031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235440" y="2185416"/>
            <a:ext cx="2249424" cy="603504"/>
          </a:xfrm>
          <a:prstGeom prst="rect">
            <a:avLst/>
          </a:prstGeom>
          <a:noFill/>
        </p:spPr>
        <p:txBody>
          <a:bodyPr wrap="square" lIns="0" rIns="0" tIns="0" bIns="0">
            <a:spAutoFit/>
          </a:bodyPr>
          <a:lstStyle/>
          <a:p>
            <a:pPr>
              <a:lnSpc>
                <a:spcPct val="110000"/>
              </a:lnSpc>
              <a:spcAft>
                <a:spcPts val="700"/>
              </a:spcAft>
              <a:defRPr sz="1900" b="1">
                <a:solidFill>
                  <a:srgbClr val="822433"/>
                </a:solidFill>
                <a:latin typeface="Liberation Sans"/>
              </a:defRPr>
            </a:pPr>
            <a:r>
              <a:rPr lang="en-GB"/>
              <a:t>Prices rise</a:t>
            </a:r>
          </a:p>
        </p:txBody>
      </p:sp>
      <p:sp>
        <p:nvSpPr>
          <p:cNvPr id="24" name="TextBox 23"/>
          <p:cNvSpPr txBox="1"/>
          <p:nvPr/>
        </p:nvSpPr>
        <p:spPr>
          <a:xfrm>
            <a:off x="9235440" y="2935224"/>
            <a:ext cx="2249424" cy="1124712"/>
          </a:xfrm>
          <a:prstGeom prst="rect">
            <a:avLst/>
          </a:prstGeom>
          <a:noFill/>
        </p:spPr>
        <p:txBody>
          <a:bodyPr wrap="square" lIns="0" rIns="0" tIns="0" bIns="0">
            <a:spAutoFit/>
          </a:bodyPr>
          <a:lstStyle/>
          <a:p>
            <a:pPr>
              <a:lnSpc>
                <a:spcPct val="110000"/>
              </a:lnSpc>
              <a:spcAft>
                <a:spcPts val="700"/>
              </a:spcAft>
              <a:defRPr sz="1800" b="0">
                <a:solidFill>
                  <a:srgbClr val="252329"/>
                </a:solidFill>
                <a:latin typeface="Liberation Sans"/>
              </a:defRPr>
            </a:pPr>
            <a:r>
              <a:rPr lang="en-GB"/>
              <a:t>Other people’s money buys fewer goods.</a:t>
            </a:r>
          </a:p>
        </p:txBody>
      </p:sp>
      <p:sp>
        <p:nvSpPr>
          <p:cNvPr id="25" name="Chevron 24"/>
          <p:cNvSpPr/>
          <p:nvPr/>
        </p:nvSpPr>
        <p:spPr>
          <a:xfrm>
            <a:off x="3163824" y="2834640"/>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hevron 25"/>
          <p:cNvSpPr/>
          <p:nvPr/>
        </p:nvSpPr>
        <p:spPr>
          <a:xfrm>
            <a:off x="6007608" y="2834640"/>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hevron 26"/>
          <p:cNvSpPr/>
          <p:nvPr/>
        </p:nvSpPr>
        <p:spPr>
          <a:xfrm>
            <a:off x="8851392" y="2834640"/>
            <a:ext cx="146304" cy="201168"/>
          </a:xfrm>
          <a:prstGeom prst="chevron">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13232" y="4398264"/>
            <a:ext cx="10835640" cy="1188720"/>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Pigou calls the subscriber a kind of “tax collector”: the transaction helps impose a concealed levy on the public. Because the subscriber has not economised, praise for personal generosity can be misleading.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When temporary bank borrowing can be useful</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Borrowing can bridge a timing gap if it is followed by genuine savings.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Savings must keep pace with government spending; otherwise the inflationary problem remains.</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23–24</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17</a:t>
            </a:r>
          </a:p>
        </p:txBody>
      </p:sp>
      <p:cxnSp>
        <p:nvCxnSpPr>
          <p:cNvPr id="13" name="Connector 12"/>
          <p:cNvCxnSpPr/>
          <p:nvPr/>
        </p:nvCxnSpPr>
        <p:spPr>
          <a:xfrm>
            <a:off x="1005840" y="2862072"/>
            <a:ext cx="10058400" cy="0"/>
          </a:xfrm>
          <a:prstGeom prst="line">
            <a:avLst/>
          </a:prstGeom>
          <a:ln w="38100">
            <a:solidFill>
              <a:srgbClr val="82243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4128" y="2752344"/>
            <a:ext cx="219456" cy="219456"/>
          </a:xfrm>
          <a:prstGeom prst="ellipse">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96696" y="2066543"/>
            <a:ext cx="3017520" cy="493776"/>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Subscribe now</a:t>
            </a:r>
          </a:p>
        </p:txBody>
      </p:sp>
      <p:sp>
        <p:nvSpPr>
          <p:cNvPr id="16" name="TextBox 15"/>
          <p:cNvSpPr txBox="1"/>
          <p:nvPr/>
        </p:nvSpPr>
        <p:spPr>
          <a:xfrm>
            <a:off x="996696" y="3209544"/>
            <a:ext cx="2971800" cy="82296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Borrow temporarily</a:t>
            </a:r>
          </a:p>
          <a:p>
            <a:pPr>
              <a:lnSpc>
                <a:spcPct val="110000"/>
              </a:lnSpc>
              <a:spcAft>
                <a:spcPts val="700"/>
              </a:spcAft>
              <a:defRPr sz="2000" b="0">
                <a:solidFill>
                  <a:srgbClr val="252329"/>
                </a:solidFill>
                <a:latin typeface="Liberation Sans"/>
              </a:defRPr>
            </a:pPr>
            <a:r>
              <a:rPr lang="en-GB"/>
              <a:t>to buy the bond.</a:t>
            </a:r>
          </a:p>
        </p:txBody>
      </p:sp>
      <p:sp>
        <p:nvSpPr>
          <p:cNvPr id="17" name="Oval 16"/>
          <p:cNvSpPr/>
          <p:nvPr/>
        </p:nvSpPr>
        <p:spPr>
          <a:xfrm>
            <a:off x="5029200" y="2752344"/>
            <a:ext cx="219456" cy="219456"/>
          </a:xfrm>
          <a:prstGeom prst="ellipse">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01768" y="2066543"/>
            <a:ext cx="3017520" cy="493776"/>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Save and repay</a:t>
            </a:r>
          </a:p>
        </p:txBody>
      </p:sp>
      <p:sp>
        <p:nvSpPr>
          <p:cNvPr id="19" name="TextBox 18"/>
          <p:cNvSpPr txBox="1"/>
          <p:nvPr/>
        </p:nvSpPr>
        <p:spPr>
          <a:xfrm>
            <a:off x="5001768" y="3209544"/>
            <a:ext cx="2971800" cy="82296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Reduce expenditure</a:t>
            </a:r>
          </a:p>
          <a:p>
            <a:pPr>
              <a:lnSpc>
                <a:spcPct val="110000"/>
              </a:lnSpc>
              <a:spcAft>
                <a:spcPts val="700"/>
              </a:spcAft>
              <a:defRPr sz="2000" b="0">
                <a:solidFill>
                  <a:srgbClr val="252329"/>
                </a:solidFill>
                <a:latin typeface="Liberation Sans"/>
              </a:defRPr>
            </a:pPr>
            <a:r>
              <a:rPr lang="en-GB"/>
              <a:t>and repay the bank.</a:t>
            </a:r>
          </a:p>
        </p:txBody>
      </p:sp>
      <p:sp>
        <p:nvSpPr>
          <p:cNvPr id="20" name="Oval 19"/>
          <p:cNvSpPr/>
          <p:nvPr/>
        </p:nvSpPr>
        <p:spPr>
          <a:xfrm>
            <a:off x="8851392" y="2752344"/>
            <a:ext cx="219456" cy="219456"/>
          </a:xfrm>
          <a:prstGeom prst="ellipse">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823960" y="2066543"/>
            <a:ext cx="3017520" cy="493776"/>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State spends over time</a:t>
            </a:r>
          </a:p>
        </p:txBody>
      </p:sp>
      <p:sp>
        <p:nvSpPr>
          <p:cNvPr id="22" name="TextBox 21"/>
          <p:cNvSpPr txBox="1"/>
          <p:nvPr/>
        </p:nvSpPr>
        <p:spPr>
          <a:xfrm>
            <a:off x="8823960" y="3209544"/>
            <a:ext cx="2971800" cy="822960"/>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Freed resources</a:t>
            </a:r>
          </a:p>
          <a:p>
            <a:pPr>
              <a:lnSpc>
                <a:spcPct val="110000"/>
              </a:lnSpc>
              <a:spcAft>
                <a:spcPts val="700"/>
              </a:spcAft>
              <a:defRPr sz="2000" b="0">
                <a:solidFill>
                  <a:srgbClr val="252329"/>
                </a:solidFill>
                <a:latin typeface="Liberation Sans"/>
              </a:defRPr>
            </a:pPr>
            <a:r>
              <a:rPr lang="en-GB"/>
              <a:t>meet state demand.</a:t>
            </a:r>
          </a:p>
        </p:txBody>
      </p:sp>
      <p:sp>
        <p:nvSpPr>
          <p:cNvPr id="23" name="TextBox 22"/>
          <p:cNvSpPr txBox="1"/>
          <p:nvPr/>
        </p:nvSpPr>
        <p:spPr>
          <a:xfrm>
            <a:off x="722376" y="4379976"/>
            <a:ext cx="10817352" cy="107899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Final instalment: 30 May 1917. Pigou hopes the proceeds will last for months afterward. Because their size and spending speed are unknown, his rough rule is to anticipate savings expected during the current year.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Selling investments before subscriptions close</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Pigou considers selling existing securities to other British investors.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If the seller does not economise, any new real sacrifice must come from someone else.</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24</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18</a:t>
            </a:r>
          </a:p>
        </p:txBody>
      </p:sp>
      <p:sp>
        <p:nvSpPr>
          <p:cNvPr id="13" name="Rectangle 12"/>
          <p:cNvSpPr/>
          <p:nvPr/>
        </p:nvSpPr>
        <p:spPr>
          <a:xfrm>
            <a:off x="548640" y="1956816"/>
            <a:ext cx="5413248"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56816"/>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21408"/>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Buyer already wanted an investment</a:t>
            </a:r>
          </a:p>
        </p:txBody>
      </p:sp>
      <p:sp>
        <p:nvSpPr>
          <p:cNvPr id="16" name="TextBox 15"/>
          <p:cNvSpPr txBox="1"/>
          <p:nvPr/>
        </p:nvSpPr>
        <p:spPr>
          <a:xfrm>
            <a:off x="749808" y="2761488"/>
            <a:ext cx="5010912" cy="263347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Without my security, the buyer would have purchased War Loan.</a:t>
            </a:r>
          </a:p>
          <a:p>
            <a:pPr>
              <a:lnSpc>
                <a:spcPct val="110000"/>
              </a:lnSpc>
              <a:spcAft>
                <a:spcPts val="700"/>
              </a:spcAft>
              <a:defRPr sz="2000" b="0">
                <a:solidFill>
                  <a:srgbClr val="252329"/>
                </a:solidFill>
                <a:latin typeface="Liberation Sans"/>
              </a:defRPr>
            </a:pPr>
            <a:r>
              <a:rPr lang="en-GB"/>
              <a:t>Because my sale redirects that investment, I replace their subscription with mine.</a:t>
            </a:r>
          </a:p>
          <a:p>
            <a:pPr>
              <a:lnSpc>
                <a:spcPct val="110000"/>
              </a:lnSpc>
              <a:spcAft>
                <a:spcPts val="700"/>
              </a:spcAft>
              <a:defRPr sz="2000" b="0">
                <a:solidFill>
                  <a:srgbClr val="252329"/>
                </a:solidFill>
                <a:latin typeface="Liberation Sans"/>
              </a:defRPr>
            </a:pPr>
            <a:r>
              <a:rPr lang="en-GB"/>
              <a:t>Result: ownership changes, but total subscriptions do not rise.</a:t>
            </a:r>
          </a:p>
        </p:txBody>
      </p:sp>
      <p:sp>
        <p:nvSpPr>
          <p:cNvPr id="17" name="Rectangle 16"/>
          <p:cNvSpPr/>
          <p:nvPr/>
        </p:nvSpPr>
        <p:spPr>
          <a:xfrm>
            <a:off x="6236208" y="1956816"/>
            <a:ext cx="5413248" cy="347472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36208" y="1956816"/>
            <a:ext cx="41148" cy="347472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37376" y="2121408"/>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Buyer gives up planned consumption</a:t>
            </a:r>
          </a:p>
        </p:txBody>
      </p:sp>
      <p:sp>
        <p:nvSpPr>
          <p:cNvPr id="20" name="TextBox 19"/>
          <p:cNvSpPr txBox="1"/>
          <p:nvPr/>
        </p:nvSpPr>
        <p:spPr>
          <a:xfrm>
            <a:off x="6437376" y="2761488"/>
            <a:ext cx="5010912" cy="2633472"/>
          </a:xfrm>
          <a:prstGeom prst="rect">
            <a:avLst/>
          </a:prstGeom>
          <a:noFill/>
        </p:spPr>
        <p:txBody>
          <a:bodyPr wrap="square" lIns="0" rIns="0" tIns="0" bIns="0">
            <a:spAutoFit/>
          </a:bodyPr>
          <a:lstStyle/>
          <a:p>
            <a:pPr>
              <a:lnSpc>
                <a:spcPct val="110000"/>
              </a:lnSpc>
              <a:spcAft>
                <a:spcPts val="700"/>
              </a:spcAft>
              <a:defRPr sz="2000" b="0">
                <a:solidFill>
                  <a:srgbClr val="252329"/>
                </a:solidFill>
                <a:latin typeface="Liberation Sans"/>
              </a:defRPr>
            </a:pPr>
            <a:r>
              <a:rPr lang="en-GB"/>
              <a:t>My offer encourages the buyer to spend less in order to buy my security.</a:t>
            </a:r>
          </a:p>
          <a:p>
            <a:pPr>
              <a:lnSpc>
                <a:spcPct val="110000"/>
              </a:lnSpc>
              <a:spcAft>
                <a:spcPts val="700"/>
              </a:spcAft>
              <a:defRPr sz="2000" b="0">
                <a:solidFill>
                  <a:srgbClr val="252329"/>
                </a:solidFill>
                <a:latin typeface="Liberation Sans"/>
              </a:defRPr>
            </a:pPr>
            <a:r>
              <a:rPr lang="en-GB"/>
              <a:t>Because the buyer economises, resources are released for the government.</a:t>
            </a:r>
          </a:p>
          <a:p>
            <a:pPr>
              <a:lnSpc>
                <a:spcPct val="110000"/>
              </a:lnSpc>
              <a:spcAft>
                <a:spcPts val="700"/>
              </a:spcAft>
              <a:defRPr sz="2000" b="0">
                <a:solidFill>
                  <a:srgbClr val="252329"/>
                </a:solidFill>
                <a:latin typeface="Liberation Sans"/>
              </a:defRPr>
            </a:pPr>
            <a:r>
              <a:rPr lang="en-GB"/>
              <a:t>Result: the real contribution comes from the buyer.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III · MAKING THE LOAN EFFECTIVE</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Selling investments after subscriptions close</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After 16 February 1917, the sale cannot simply displace a new direct subscription.</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Selling an asset is not itself a personal resource sacrifice if the seller keeps spending as before.</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24</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19</a:t>
            </a:r>
          </a:p>
        </p:txBody>
      </p:sp>
      <p:sp>
        <p:nvSpPr>
          <p:cNvPr id="13" name="Rectangle 12"/>
          <p:cNvSpPr/>
          <p:nvPr/>
        </p:nvSpPr>
        <p:spPr>
          <a:xfrm>
            <a:off x="548640" y="1947672"/>
            <a:ext cx="3502152" cy="287121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47672"/>
            <a:ext cx="41148" cy="287121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12264"/>
            <a:ext cx="3099816"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Buyer uses savings</a:t>
            </a:r>
          </a:p>
        </p:txBody>
      </p:sp>
      <p:sp>
        <p:nvSpPr>
          <p:cNvPr id="16" name="TextBox 15"/>
          <p:cNvSpPr txBox="1"/>
          <p:nvPr/>
        </p:nvSpPr>
        <p:spPr>
          <a:xfrm>
            <a:off x="749808" y="2752344"/>
            <a:ext cx="3099816" cy="2029968"/>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The buyer cuts expenditure to purchase the security.</a:t>
            </a:r>
          </a:p>
          <a:p>
            <a:pPr>
              <a:lnSpc>
                <a:spcPct val="110000"/>
              </a:lnSpc>
              <a:spcAft>
                <a:spcPts val="700"/>
              </a:spcAft>
              <a:defRPr sz="1900" b="0">
                <a:solidFill>
                  <a:srgbClr val="252329"/>
                </a:solidFill>
                <a:latin typeface="Liberation Sans"/>
              </a:defRPr>
            </a:pPr>
            <a:r>
              <a:rPr lang="en-GB"/>
              <a:t>Therefore, the buyer releases the real resources.</a:t>
            </a:r>
          </a:p>
        </p:txBody>
      </p:sp>
      <p:sp>
        <p:nvSpPr>
          <p:cNvPr id="17" name="Rectangle 16"/>
          <p:cNvSpPr/>
          <p:nvPr/>
        </p:nvSpPr>
        <p:spPr>
          <a:xfrm>
            <a:off x="4343400" y="1947672"/>
            <a:ext cx="3502152" cy="287121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343400" y="1947672"/>
            <a:ext cx="41148" cy="287121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544568" y="2112264"/>
            <a:ext cx="3099816"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Buyer uses bank credit</a:t>
            </a:r>
          </a:p>
        </p:txBody>
      </p:sp>
      <p:sp>
        <p:nvSpPr>
          <p:cNvPr id="20" name="TextBox 19"/>
          <p:cNvSpPr txBox="1"/>
          <p:nvPr/>
        </p:nvSpPr>
        <p:spPr>
          <a:xfrm>
            <a:off x="4544568" y="2752344"/>
            <a:ext cx="3099816" cy="2029968"/>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The buyer borrows the full price without economising.</a:t>
            </a:r>
          </a:p>
          <a:p>
            <a:pPr>
              <a:lnSpc>
                <a:spcPct val="110000"/>
              </a:lnSpc>
              <a:spcAft>
                <a:spcPts val="700"/>
              </a:spcAft>
              <a:defRPr sz="1900" b="0">
                <a:solidFill>
                  <a:srgbClr val="252329"/>
                </a:solidFill>
                <a:latin typeface="Liberation Sans"/>
              </a:defRPr>
            </a:pPr>
            <a:r>
              <a:rPr lang="en-GB"/>
              <a:t>Therefore, inflation makes the wider public release resources.</a:t>
            </a:r>
          </a:p>
        </p:txBody>
      </p:sp>
      <p:sp>
        <p:nvSpPr>
          <p:cNvPr id="21" name="Rectangle 20"/>
          <p:cNvSpPr/>
          <p:nvPr/>
        </p:nvSpPr>
        <p:spPr>
          <a:xfrm>
            <a:off x="8138160" y="1947672"/>
            <a:ext cx="3502152" cy="287121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138160" y="1947672"/>
            <a:ext cx="41148" cy="2871216"/>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39328" y="2112264"/>
            <a:ext cx="3099816"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Buyer combines both</a:t>
            </a:r>
          </a:p>
        </p:txBody>
      </p:sp>
      <p:sp>
        <p:nvSpPr>
          <p:cNvPr id="24" name="TextBox 23"/>
          <p:cNvSpPr txBox="1"/>
          <p:nvPr/>
        </p:nvSpPr>
        <p:spPr>
          <a:xfrm>
            <a:off x="8339328" y="2752344"/>
            <a:ext cx="3099816" cy="2029968"/>
          </a:xfrm>
          <a:prstGeom prst="rect">
            <a:avLst/>
          </a:prstGeom>
          <a:noFill/>
        </p:spPr>
        <p:txBody>
          <a:bodyPr wrap="square" lIns="0" rIns="0" tIns="0" bIns="0">
            <a:spAutoFit/>
          </a:bodyPr>
          <a:lstStyle/>
          <a:p>
            <a:pPr>
              <a:lnSpc>
                <a:spcPct val="110000"/>
              </a:lnSpc>
              <a:spcAft>
                <a:spcPts val="700"/>
              </a:spcAft>
              <a:defRPr sz="1900" b="0">
                <a:solidFill>
                  <a:srgbClr val="252329"/>
                </a:solidFill>
                <a:latin typeface="Liberation Sans"/>
              </a:defRPr>
            </a:pPr>
            <a:r>
              <a:rPr lang="en-GB"/>
              <a:t>Part of the price comes from economy and part from new borrowing.</a:t>
            </a:r>
          </a:p>
          <a:p>
            <a:pPr>
              <a:lnSpc>
                <a:spcPct val="110000"/>
              </a:lnSpc>
              <a:spcAft>
                <a:spcPts val="700"/>
              </a:spcAft>
              <a:defRPr sz="1900" b="0">
                <a:solidFill>
                  <a:srgbClr val="252329"/>
                </a:solidFill>
                <a:latin typeface="Liberation Sans"/>
              </a:defRPr>
            </a:pPr>
            <a:r>
              <a:rPr lang="en-GB"/>
              <a:t>Therefore, voluntary saving and inflation share the burden.</a:t>
            </a:r>
          </a:p>
        </p:txBody>
      </p:sp>
      <p:sp>
        <p:nvSpPr>
          <p:cNvPr id="25" name="TextBox 24"/>
          <p:cNvSpPr txBox="1"/>
          <p:nvPr/>
        </p:nvSpPr>
        <p:spPr>
          <a:xfrm>
            <a:off x="731520" y="5056632"/>
            <a:ext cx="10762488" cy="420624"/>
          </a:xfrm>
          <a:prstGeom prst="rect">
            <a:avLst/>
          </a:prstGeom>
          <a:noFill/>
        </p:spPr>
        <p:txBody>
          <a:bodyPr wrap="square" lIns="0" rIns="0" tIns="0" bIns="0">
            <a:spAutoFit/>
          </a:bodyPr>
          <a:lstStyle/>
          <a:p>
            <a:pPr>
              <a:lnSpc>
                <a:spcPct val="110000"/>
              </a:lnSpc>
              <a:spcAft>
                <a:spcPts val="700"/>
              </a:spcAft>
              <a:defRPr sz="1900" b="0">
                <a:solidFill>
                  <a:srgbClr val="69656A"/>
                </a:solidFill>
                <a:latin typeface="Liberation Sans"/>
              </a:defRPr>
            </a:pPr>
            <a:r>
              <a:rPr lang="en-GB"/>
              <a:t>The seller uses the proceeds to pay the instalments on a subscription already made.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IV · WHAT COUNTS AS A CONTRIBUTION</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Can someone help without buying a single bond?</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Yes—because the government needs resources, reducing private demand can help on its own.</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Pigou ranks genuine economy first, while still treating subscription as an important duty.</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 25</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20</a:t>
            </a:r>
          </a:p>
        </p:txBody>
      </p:sp>
      <p:sp>
        <p:nvSpPr>
          <p:cNvPr id="13" name="Rectangle 12"/>
          <p:cNvSpPr/>
          <p:nvPr/>
        </p:nvSpPr>
        <p:spPr>
          <a:xfrm>
            <a:off x="548640" y="1975104"/>
            <a:ext cx="5413248" cy="342900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8640" y="1975104"/>
            <a:ext cx="41148" cy="342900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49808" y="2139696"/>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economising helps</a:t>
            </a:r>
          </a:p>
        </p:txBody>
      </p:sp>
      <p:sp>
        <p:nvSpPr>
          <p:cNvPr id="16" name="TextBox 15"/>
          <p:cNvSpPr txBox="1"/>
          <p:nvPr/>
        </p:nvSpPr>
        <p:spPr>
          <a:xfrm>
            <a:off x="749808" y="2779776"/>
            <a:ext cx="5010912" cy="2587752"/>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When I buy fewer goods or machines, I place less pressure on limited productive capacity.</a:t>
            </a:r>
          </a:p>
          <a:p>
            <a:pPr>
              <a:lnSpc>
                <a:spcPct val="110000"/>
              </a:lnSpc>
              <a:spcAft>
                <a:spcPts val="700"/>
              </a:spcAft>
              <a:defRPr sz="2200" b="0">
                <a:solidFill>
                  <a:srgbClr val="252329"/>
                </a:solidFill>
                <a:latin typeface="Liberation Sans"/>
              </a:defRPr>
            </a:pPr>
            <a:r>
              <a:rPr lang="en-GB"/>
              <a:t>More resources remain available, and other people’s subscriptions may buy more than they otherwise would.</a:t>
            </a:r>
          </a:p>
        </p:txBody>
      </p:sp>
      <p:sp>
        <p:nvSpPr>
          <p:cNvPr id="17" name="Rectangle 16"/>
          <p:cNvSpPr/>
          <p:nvPr/>
        </p:nvSpPr>
        <p:spPr>
          <a:xfrm>
            <a:off x="6236208" y="1975104"/>
            <a:ext cx="5413248" cy="3429000"/>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36208" y="1975104"/>
            <a:ext cx="41148" cy="342900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37376" y="2139696"/>
            <a:ext cx="5010912" cy="502920"/>
          </a:xfrm>
          <a:prstGeom prst="rect">
            <a:avLst/>
          </a:prstGeom>
          <a:noFill/>
        </p:spPr>
        <p:txBody>
          <a:bodyPr wrap="square" lIns="0" rIns="0" tIns="0" bIns="0">
            <a:spAutoFit/>
          </a:bodyPr>
          <a:lstStyle/>
          <a:p>
            <a:pPr>
              <a:lnSpc>
                <a:spcPct val="110000"/>
              </a:lnSpc>
              <a:spcAft>
                <a:spcPts val="700"/>
              </a:spcAft>
              <a:defRPr sz="2100" b="1">
                <a:solidFill>
                  <a:srgbClr val="822433"/>
                </a:solidFill>
                <a:latin typeface="Liberation Sans"/>
              </a:defRPr>
            </a:pPr>
            <a:r>
              <a:rPr lang="en-GB"/>
              <a:t>Why subscribing still matters</a:t>
            </a:r>
          </a:p>
        </p:txBody>
      </p:sp>
      <p:sp>
        <p:nvSpPr>
          <p:cNvPr id="20" name="TextBox 19"/>
          <p:cNvSpPr txBox="1"/>
          <p:nvPr/>
        </p:nvSpPr>
        <p:spPr>
          <a:xfrm>
            <a:off x="6437376" y="2779776"/>
            <a:ext cx="5010912" cy="2587752"/>
          </a:xfrm>
          <a:prstGeom prst="rect">
            <a:avLst/>
          </a:prstGeom>
          <a:noFill/>
        </p:spPr>
        <p:txBody>
          <a:bodyPr wrap="square" lIns="0" rIns="0" tIns="0" bIns="0">
            <a:spAutoFit/>
          </a:bodyPr>
          <a:lstStyle/>
          <a:p>
            <a:pPr>
              <a:lnSpc>
                <a:spcPct val="110000"/>
              </a:lnSpc>
              <a:spcAft>
                <a:spcPts val="700"/>
              </a:spcAft>
              <a:defRPr sz="2200" b="0">
                <a:solidFill>
                  <a:srgbClr val="252329"/>
                </a:solidFill>
                <a:latin typeface="Liberation Sans"/>
              </a:defRPr>
            </a:pPr>
            <a:r>
              <a:rPr lang="en-GB"/>
              <a:t>Putting the savings into War Loan directly transfers purchasing power to the state.</a:t>
            </a:r>
          </a:p>
          <a:p>
            <a:pPr>
              <a:lnSpc>
                <a:spcPct val="110000"/>
              </a:lnSpc>
              <a:spcAft>
                <a:spcPts val="700"/>
              </a:spcAft>
              <a:defRPr sz="2200" b="0">
                <a:solidFill>
                  <a:srgbClr val="252329"/>
                </a:solidFill>
                <a:latin typeface="Liberation Sans"/>
              </a:defRPr>
            </a:pPr>
            <a:r>
              <a:rPr lang="en-GB"/>
              <a:t>Lending therefore remains an important duty. But releasing resources is the more fundamental step.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IV · WHAT COUNTS AS A CONTRIBUTION</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Who actually contributes?</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Follow the spending decision behind the subscription, rather than only the name on the bond.</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The subscription amount alone does not reveal who makes the real sacrifice.</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21–25</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21</a:t>
            </a:r>
          </a:p>
        </p:txBody>
      </p:sp>
      <p:sp>
        <p:nvSpPr>
          <p:cNvPr id="13" name="Rectangle 12"/>
          <p:cNvSpPr/>
          <p:nvPr/>
        </p:nvSpPr>
        <p:spPr>
          <a:xfrm>
            <a:off x="521207" y="1901952"/>
            <a:ext cx="2953512" cy="475488"/>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2039112"/>
            <a:ext cx="2697480" cy="228600"/>
          </a:xfrm>
          <a:prstGeom prst="rect">
            <a:avLst/>
          </a:prstGeom>
          <a:noFill/>
        </p:spPr>
        <p:txBody>
          <a:bodyPr wrap="square" lIns="0" rIns="0" tIns="0" bIns="0">
            <a:spAutoFit/>
          </a:bodyPr>
          <a:lstStyle/>
          <a:p>
            <a:pPr>
              <a:lnSpc>
                <a:spcPct val="110000"/>
              </a:lnSpc>
              <a:spcAft>
                <a:spcPts val="700"/>
              </a:spcAft>
              <a:defRPr sz="1300" b="1">
                <a:solidFill>
                  <a:srgbClr val="FFFFFF"/>
                </a:solidFill>
                <a:latin typeface="Liberation Sans"/>
              </a:defRPr>
            </a:pPr>
            <a:r>
              <a:rPr lang="en-GB"/>
              <a:t>ACTION</a:t>
            </a:r>
          </a:p>
        </p:txBody>
      </p:sp>
      <p:sp>
        <p:nvSpPr>
          <p:cNvPr id="15" name="Rectangle 14"/>
          <p:cNvSpPr/>
          <p:nvPr/>
        </p:nvSpPr>
        <p:spPr>
          <a:xfrm>
            <a:off x="3474720" y="1901952"/>
            <a:ext cx="4343400" cy="475488"/>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602736" y="2039112"/>
            <a:ext cx="4087368" cy="228600"/>
          </a:xfrm>
          <a:prstGeom prst="rect">
            <a:avLst/>
          </a:prstGeom>
          <a:noFill/>
        </p:spPr>
        <p:txBody>
          <a:bodyPr wrap="square" lIns="0" rIns="0" tIns="0" bIns="0">
            <a:spAutoFit/>
          </a:bodyPr>
          <a:lstStyle/>
          <a:p>
            <a:pPr>
              <a:lnSpc>
                <a:spcPct val="110000"/>
              </a:lnSpc>
              <a:spcAft>
                <a:spcPts val="700"/>
              </a:spcAft>
              <a:defRPr sz="1300" b="1">
                <a:solidFill>
                  <a:srgbClr val="FFFFFF"/>
                </a:solidFill>
                <a:latin typeface="Liberation Sans"/>
              </a:defRPr>
            </a:pPr>
            <a:r>
              <a:rPr lang="en-GB"/>
              <a:t>WHO RELEASES RESOURCES?</a:t>
            </a:r>
          </a:p>
        </p:txBody>
      </p:sp>
      <p:sp>
        <p:nvSpPr>
          <p:cNvPr id="17" name="Rectangle 16"/>
          <p:cNvSpPr/>
          <p:nvPr/>
        </p:nvSpPr>
        <p:spPr>
          <a:xfrm>
            <a:off x="7818120" y="1901952"/>
            <a:ext cx="3867912" cy="475488"/>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946136" y="2039112"/>
            <a:ext cx="3611880" cy="228600"/>
          </a:xfrm>
          <a:prstGeom prst="rect">
            <a:avLst/>
          </a:prstGeom>
          <a:noFill/>
        </p:spPr>
        <p:txBody>
          <a:bodyPr wrap="square" lIns="0" rIns="0" tIns="0" bIns="0">
            <a:spAutoFit/>
          </a:bodyPr>
          <a:lstStyle/>
          <a:p>
            <a:pPr>
              <a:lnSpc>
                <a:spcPct val="110000"/>
              </a:lnSpc>
              <a:spcAft>
                <a:spcPts val="700"/>
              </a:spcAft>
              <a:defRPr sz="1300" b="1">
                <a:solidFill>
                  <a:srgbClr val="FFFFFF"/>
                </a:solidFill>
                <a:latin typeface="Liberation Sans"/>
              </a:defRPr>
            </a:pPr>
            <a:r>
              <a:rPr lang="en-GB"/>
              <a:t>MAIN EFFECT</a:t>
            </a:r>
          </a:p>
        </p:txBody>
      </p:sp>
      <p:sp>
        <p:nvSpPr>
          <p:cNvPr id="19" name="Rectangle 18"/>
          <p:cNvSpPr/>
          <p:nvPr/>
        </p:nvSpPr>
        <p:spPr>
          <a:xfrm>
            <a:off x="521207" y="2377440"/>
            <a:ext cx="29535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2450592"/>
            <a:ext cx="2697480" cy="530352"/>
          </a:xfrm>
          <a:prstGeom prst="rect">
            <a:avLst/>
          </a:prstGeom>
          <a:noFill/>
        </p:spPr>
        <p:txBody>
          <a:bodyPr wrap="square" lIns="0" rIns="0" tIns="0" bIns="0">
            <a:spAutoFit/>
          </a:bodyPr>
          <a:lstStyle/>
          <a:p>
            <a:pPr>
              <a:lnSpc>
                <a:spcPct val="110000"/>
              </a:lnSpc>
              <a:spcAft>
                <a:spcPts val="700"/>
              </a:spcAft>
              <a:defRPr sz="1550" b="1">
                <a:solidFill>
                  <a:srgbClr val="252329"/>
                </a:solidFill>
                <a:latin typeface="Liberation Sans"/>
              </a:defRPr>
            </a:pPr>
            <a:r>
              <a:rPr lang="en-GB"/>
              <a:t>Save and subscribe</a:t>
            </a:r>
          </a:p>
        </p:txBody>
      </p:sp>
      <p:sp>
        <p:nvSpPr>
          <p:cNvPr id="21" name="Rectangle 20"/>
          <p:cNvSpPr/>
          <p:nvPr/>
        </p:nvSpPr>
        <p:spPr>
          <a:xfrm>
            <a:off x="3474720" y="2377440"/>
            <a:ext cx="4343400"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602736" y="2450592"/>
            <a:ext cx="4087368"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The subscriber, through lower expenditure.</a:t>
            </a:r>
          </a:p>
        </p:txBody>
      </p:sp>
      <p:sp>
        <p:nvSpPr>
          <p:cNvPr id="23" name="Rectangle 22"/>
          <p:cNvSpPr/>
          <p:nvPr/>
        </p:nvSpPr>
        <p:spPr>
          <a:xfrm>
            <a:off x="7818120" y="2377440"/>
            <a:ext cx="38679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946136" y="2450592"/>
            <a:ext cx="36118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Direct voluntary contribution.</a:t>
            </a:r>
          </a:p>
        </p:txBody>
      </p:sp>
      <p:sp>
        <p:nvSpPr>
          <p:cNvPr id="25" name="Rectangle 24"/>
          <p:cNvSpPr/>
          <p:nvPr/>
        </p:nvSpPr>
        <p:spPr>
          <a:xfrm>
            <a:off x="521207" y="3008376"/>
            <a:ext cx="2953512"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9224" y="3081528"/>
            <a:ext cx="26974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Borrow without economising</a:t>
            </a:r>
          </a:p>
        </p:txBody>
      </p:sp>
      <p:sp>
        <p:nvSpPr>
          <p:cNvPr id="27" name="Rectangle 26"/>
          <p:cNvSpPr/>
          <p:nvPr/>
        </p:nvSpPr>
        <p:spPr>
          <a:xfrm>
            <a:off x="3474720" y="3008376"/>
            <a:ext cx="4343400"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602736" y="3081528"/>
            <a:ext cx="4087368"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The public, through reduced purchasing power.</a:t>
            </a:r>
          </a:p>
        </p:txBody>
      </p:sp>
      <p:sp>
        <p:nvSpPr>
          <p:cNvPr id="29" name="Rectangle 28"/>
          <p:cNvSpPr/>
          <p:nvPr/>
        </p:nvSpPr>
        <p:spPr>
          <a:xfrm>
            <a:off x="7818120" y="3008376"/>
            <a:ext cx="3867912"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946136" y="3081528"/>
            <a:ext cx="36118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Inflationary transfer.</a:t>
            </a:r>
          </a:p>
        </p:txBody>
      </p:sp>
      <p:sp>
        <p:nvSpPr>
          <p:cNvPr id="31" name="Rectangle 30"/>
          <p:cNvSpPr/>
          <p:nvPr/>
        </p:nvSpPr>
        <p:spPr>
          <a:xfrm>
            <a:off x="521207" y="3639312"/>
            <a:ext cx="29535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9224" y="3712463"/>
            <a:ext cx="26974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Borrow, then save in time</a:t>
            </a:r>
          </a:p>
        </p:txBody>
      </p:sp>
      <p:sp>
        <p:nvSpPr>
          <p:cNvPr id="33" name="Rectangle 32"/>
          <p:cNvSpPr/>
          <p:nvPr/>
        </p:nvSpPr>
        <p:spPr>
          <a:xfrm>
            <a:off x="3474720" y="3639312"/>
            <a:ext cx="4343400"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602736" y="3712463"/>
            <a:ext cx="4087368"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The subscriber, as saving matches state spending.</a:t>
            </a:r>
          </a:p>
        </p:txBody>
      </p:sp>
      <p:sp>
        <p:nvSpPr>
          <p:cNvPr id="35" name="Rectangle 34"/>
          <p:cNvSpPr/>
          <p:nvPr/>
        </p:nvSpPr>
        <p:spPr>
          <a:xfrm>
            <a:off x="7818120" y="3639312"/>
            <a:ext cx="38679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946136" y="3712463"/>
            <a:ext cx="36118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A timing bridge to real saving.</a:t>
            </a:r>
          </a:p>
        </p:txBody>
      </p:sp>
      <p:sp>
        <p:nvSpPr>
          <p:cNvPr id="37" name="Rectangle 36"/>
          <p:cNvSpPr/>
          <p:nvPr/>
        </p:nvSpPr>
        <p:spPr>
          <a:xfrm>
            <a:off x="521207" y="4270248"/>
            <a:ext cx="2953512"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49224" y="4343400"/>
            <a:ext cx="26974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Sell existing securities</a:t>
            </a:r>
          </a:p>
        </p:txBody>
      </p:sp>
      <p:sp>
        <p:nvSpPr>
          <p:cNvPr id="39" name="Rectangle 38"/>
          <p:cNvSpPr/>
          <p:nvPr/>
        </p:nvSpPr>
        <p:spPr>
          <a:xfrm>
            <a:off x="3474720" y="4270248"/>
            <a:ext cx="4343400"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3602736" y="4343400"/>
            <a:ext cx="4087368"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Depends on the buyer’s saving, borrowing and alternatives.</a:t>
            </a:r>
          </a:p>
        </p:txBody>
      </p:sp>
      <p:sp>
        <p:nvSpPr>
          <p:cNvPr id="41" name="Rectangle 40"/>
          <p:cNvSpPr/>
          <p:nvPr/>
        </p:nvSpPr>
        <p:spPr>
          <a:xfrm>
            <a:off x="7818120" y="4270248"/>
            <a:ext cx="3867912" cy="630936"/>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946136" y="4343400"/>
            <a:ext cx="36118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May shift ownership or the burden.</a:t>
            </a:r>
          </a:p>
        </p:txBody>
      </p:sp>
      <p:sp>
        <p:nvSpPr>
          <p:cNvPr id="43" name="Rectangle 42"/>
          <p:cNvSpPr/>
          <p:nvPr/>
        </p:nvSpPr>
        <p:spPr>
          <a:xfrm>
            <a:off x="521207" y="4901183"/>
            <a:ext cx="29535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49224" y="4974336"/>
            <a:ext cx="26974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Economise, but do not subscribe</a:t>
            </a:r>
          </a:p>
        </p:txBody>
      </p:sp>
      <p:sp>
        <p:nvSpPr>
          <p:cNvPr id="45" name="Rectangle 44"/>
          <p:cNvSpPr/>
          <p:nvPr/>
        </p:nvSpPr>
        <p:spPr>
          <a:xfrm>
            <a:off x="3474720" y="4901183"/>
            <a:ext cx="4343400"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3602736" y="4974336"/>
            <a:ext cx="4087368"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The person who reduces private demand.</a:t>
            </a:r>
          </a:p>
        </p:txBody>
      </p:sp>
      <p:sp>
        <p:nvSpPr>
          <p:cNvPr id="47" name="Rectangle 46"/>
          <p:cNvSpPr/>
          <p:nvPr/>
        </p:nvSpPr>
        <p:spPr>
          <a:xfrm>
            <a:off x="7818120" y="4901183"/>
            <a:ext cx="3867912" cy="630936"/>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946136" y="4974336"/>
            <a:ext cx="3611880" cy="530352"/>
          </a:xfrm>
          <a:prstGeom prst="rect">
            <a:avLst/>
          </a:prstGeom>
          <a:noFill/>
        </p:spPr>
        <p:txBody>
          <a:bodyPr wrap="square" lIns="0" rIns="0" tIns="0" bIns="0">
            <a:spAutoFit/>
          </a:bodyPr>
          <a:lstStyle/>
          <a:p>
            <a:pPr>
              <a:lnSpc>
                <a:spcPct val="110000"/>
              </a:lnSpc>
              <a:spcAft>
                <a:spcPts val="700"/>
              </a:spcAft>
              <a:defRPr sz="1550" b="0">
                <a:solidFill>
                  <a:srgbClr val="252329"/>
                </a:solidFill>
                <a:latin typeface="Liberation Sans"/>
              </a:defRPr>
            </a:pPr>
            <a:r>
              <a:rPr lang="en-GB"/>
              <a:t>Resources are freed indirectly.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IV · WHAT COUNTS AS A CONTRIBUTION</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What assumptions support Pigou’s reasoning?</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These conditions explain why his conclusions follow; they are not universal laws.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Read the article as an argument about a resource-constrained wartime economy in 1917.</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16–25; explanatory synthesis</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22</a:t>
            </a:r>
          </a:p>
        </p:txBody>
      </p:sp>
      <p:sp>
        <p:nvSpPr>
          <p:cNvPr id="13" name="Rectangle 12"/>
          <p:cNvSpPr/>
          <p:nvPr/>
        </p:nvSpPr>
        <p:spPr>
          <a:xfrm>
            <a:off x="548640" y="1911095"/>
            <a:ext cx="11091672" cy="66751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22376" y="1975103"/>
            <a:ext cx="3730752" cy="566928"/>
          </a:xfrm>
          <a:prstGeom prst="rect">
            <a:avLst/>
          </a:prstGeom>
          <a:noFill/>
        </p:spPr>
        <p:txBody>
          <a:bodyPr wrap="square" lIns="0" rIns="0" tIns="0" bIns="0">
            <a:spAutoFit/>
          </a:bodyPr>
          <a:lstStyle/>
          <a:p>
            <a:pPr>
              <a:lnSpc>
                <a:spcPct val="110000"/>
              </a:lnSpc>
              <a:spcAft>
                <a:spcPts val="700"/>
              </a:spcAft>
              <a:defRPr sz="1700" b="1">
                <a:solidFill>
                  <a:srgbClr val="822433"/>
                </a:solidFill>
                <a:latin typeface="Liberation Sans"/>
              </a:defRPr>
            </a:pPr>
            <a:r>
              <a:rPr lang="en-GB"/>
              <a:t>Limited productive capacity</a:t>
            </a:r>
          </a:p>
        </p:txBody>
      </p:sp>
      <p:sp>
        <p:nvSpPr>
          <p:cNvPr id="15" name="TextBox 14"/>
          <p:cNvSpPr txBox="1"/>
          <p:nvPr/>
        </p:nvSpPr>
        <p:spPr>
          <a:xfrm>
            <a:off x="4599432" y="1975103"/>
            <a:ext cx="6784848" cy="566928"/>
          </a:xfrm>
          <a:prstGeom prst="rect">
            <a:avLst/>
          </a:prstGeom>
          <a:noFill/>
        </p:spPr>
        <p:txBody>
          <a:bodyPr wrap="square" lIns="0" rIns="0" tIns="0" bIns="0">
            <a:spAutoFit/>
          </a:bodyPr>
          <a:lstStyle/>
          <a:p>
            <a:pPr>
              <a:lnSpc>
                <a:spcPct val="110000"/>
              </a:lnSpc>
              <a:spcAft>
                <a:spcPts val="700"/>
              </a:spcAft>
              <a:defRPr sz="1700" b="0">
                <a:solidFill>
                  <a:srgbClr val="252329"/>
                </a:solidFill>
                <a:latin typeface="Liberation Sans"/>
              </a:defRPr>
            </a:pPr>
            <a:r>
              <a:rPr lang="en-GB"/>
              <a:t>More state demand competes with private uses, so spending restraint matters.</a:t>
            </a:r>
          </a:p>
        </p:txBody>
      </p:sp>
      <p:sp>
        <p:nvSpPr>
          <p:cNvPr id="16" name="Rectangle 15"/>
          <p:cNvSpPr/>
          <p:nvPr/>
        </p:nvSpPr>
        <p:spPr>
          <a:xfrm>
            <a:off x="548640" y="2633472"/>
            <a:ext cx="11091672" cy="667512"/>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22376" y="2697479"/>
            <a:ext cx="3730752" cy="566928"/>
          </a:xfrm>
          <a:prstGeom prst="rect">
            <a:avLst/>
          </a:prstGeom>
          <a:noFill/>
        </p:spPr>
        <p:txBody>
          <a:bodyPr wrap="square" lIns="0" rIns="0" tIns="0" bIns="0">
            <a:spAutoFit/>
          </a:bodyPr>
          <a:lstStyle/>
          <a:p>
            <a:pPr>
              <a:lnSpc>
                <a:spcPct val="110000"/>
              </a:lnSpc>
              <a:spcAft>
                <a:spcPts val="700"/>
              </a:spcAft>
              <a:defRPr sz="1700" b="1">
                <a:solidFill>
                  <a:srgbClr val="822433"/>
                </a:solidFill>
                <a:latin typeface="Liberation Sans"/>
              </a:defRPr>
            </a:pPr>
            <a:r>
              <a:rPr lang="en-GB"/>
              <a:t>Expected postwar deflation</a:t>
            </a:r>
          </a:p>
        </p:txBody>
      </p:sp>
      <p:sp>
        <p:nvSpPr>
          <p:cNvPr id="18" name="TextBox 17"/>
          <p:cNvSpPr txBox="1"/>
          <p:nvPr/>
        </p:nvSpPr>
        <p:spPr>
          <a:xfrm>
            <a:off x="4599432" y="2697479"/>
            <a:ext cx="6784848" cy="566928"/>
          </a:xfrm>
          <a:prstGeom prst="rect">
            <a:avLst/>
          </a:prstGeom>
          <a:noFill/>
        </p:spPr>
        <p:txBody>
          <a:bodyPr wrap="square" lIns="0" rIns="0" tIns="0" bIns="0">
            <a:spAutoFit/>
          </a:bodyPr>
          <a:lstStyle/>
          <a:p>
            <a:pPr>
              <a:lnSpc>
                <a:spcPct val="110000"/>
              </a:lnSpc>
              <a:spcAft>
                <a:spcPts val="700"/>
              </a:spcAft>
              <a:defRPr sz="1700" b="0">
                <a:solidFill>
                  <a:srgbClr val="252329"/>
                </a:solidFill>
                <a:latin typeface="Liberation Sans"/>
              </a:defRPr>
            </a:pPr>
            <a:r>
              <a:rPr lang="en-GB"/>
              <a:t>Fixed interest buys more goods relative to the initial sacrifice.</a:t>
            </a:r>
          </a:p>
        </p:txBody>
      </p:sp>
      <p:sp>
        <p:nvSpPr>
          <p:cNvPr id="19" name="Rectangle 18"/>
          <p:cNvSpPr/>
          <p:nvPr/>
        </p:nvSpPr>
        <p:spPr>
          <a:xfrm>
            <a:off x="548640" y="3355848"/>
            <a:ext cx="11091672" cy="66751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419856"/>
            <a:ext cx="3730752" cy="566928"/>
          </a:xfrm>
          <a:prstGeom prst="rect">
            <a:avLst/>
          </a:prstGeom>
          <a:noFill/>
        </p:spPr>
        <p:txBody>
          <a:bodyPr wrap="square" lIns="0" rIns="0" tIns="0" bIns="0">
            <a:spAutoFit/>
          </a:bodyPr>
          <a:lstStyle/>
          <a:p>
            <a:pPr>
              <a:lnSpc>
                <a:spcPct val="110000"/>
              </a:lnSpc>
              <a:spcAft>
                <a:spcPts val="700"/>
              </a:spcAft>
              <a:defRPr sz="1700" b="1">
                <a:solidFill>
                  <a:srgbClr val="822433"/>
                </a:solidFill>
                <a:latin typeface="Liberation Sans"/>
              </a:defRPr>
            </a:pPr>
            <a:r>
              <a:rPr lang="en-GB"/>
              <a:t>Taxes extend beyond bondholders</a:t>
            </a:r>
          </a:p>
        </p:txBody>
      </p:sp>
      <p:sp>
        <p:nvSpPr>
          <p:cNvPr id="21" name="TextBox 20"/>
          <p:cNvSpPr txBox="1"/>
          <p:nvPr/>
        </p:nvSpPr>
        <p:spPr>
          <a:xfrm>
            <a:off x="4599432" y="3419856"/>
            <a:ext cx="6784848" cy="566928"/>
          </a:xfrm>
          <a:prstGeom prst="rect">
            <a:avLst/>
          </a:prstGeom>
          <a:noFill/>
        </p:spPr>
        <p:txBody>
          <a:bodyPr wrap="square" lIns="0" rIns="0" tIns="0" bIns="0">
            <a:spAutoFit/>
          </a:bodyPr>
          <a:lstStyle/>
          <a:p>
            <a:pPr>
              <a:lnSpc>
                <a:spcPct val="110000"/>
              </a:lnSpc>
              <a:spcAft>
                <a:spcPts val="700"/>
              </a:spcAft>
              <a:defRPr sz="1700" b="0">
                <a:solidFill>
                  <a:srgbClr val="252329"/>
                </a:solidFill>
                <a:latin typeface="Liberation Sans"/>
              </a:defRPr>
            </a:pPr>
            <a:r>
              <a:rPr lang="en-GB"/>
              <a:t>Debt interest can transfer income from non-holders to lenders.</a:t>
            </a:r>
          </a:p>
        </p:txBody>
      </p:sp>
      <p:sp>
        <p:nvSpPr>
          <p:cNvPr id="22" name="Rectangle 21"/>
          <p:cNvSpPr/>
          <p:nvPr/>
        </p:nvSpPr>
        <p:spPr>
          <a:xfrm>
            <a:off x="548640" y="4078224"/>
            <a:ext cx="11091672" cy="667512"/>
          </a:xfrm>
          <a:prstGeom prst="rect">
            <a:avLst/>
          </a:prstGeom>
          <a:solidFill>
            <a:srgbClr val="FAF8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22376" y="4142232"/>
            <a:ext cx="3730752" cy="566928"/>
          </a:xfrm>
          <a:prstGeom prst="rect">
            <a:avLst/>
          </a:prstGeom>
          <a:noFill/>
        </p:spPr>
        <p:txBody>
          <a:bodyPr wrap="square" lIns="0" rIns="0" tIns="0" bIns="0">
            <a:spAutoFit/>
          </a:bodyPr>
          <a:lstStyle/>
          <a:p>
            <a:pPr>
              <a:lnSpc>
                <a:spcPct val="110000"/>
              </a:lnSpc>
              <a:spcAft>
                <a:spcPts val="700"/>
              </a:spcAft>
              <a:defRPr sz="1700" b="1">
                <a:solidFill>
                  <a:srgbClr val="822433"/>
                </a:solidFill>
                <a:latin typeface="Liberation Sans"/>
              </a:defRPr>
            </a:pPr>
            <a:r>
              <a:rPr lang="en-GB"/>
              <a:t>Temporary versus lasting taxes</a:t>
            </a:r>
          </a:p>
        </p:txBody>
      </p:sp>
      <p:sp>
        <p:nvSpPr>
          <p:cNvPr id="24" name="TextBox 23"/>
          <p:cNvSpPr txBox="1"/>
          <p:nvPr/>
        </p:nvSpPr>
        <p:spPr>
          <a:xfrm>
            <a:off x="4599432" y="4142232"/>
            <a:ext cx="6784848" cy="566928"/>
          </a:xfrm>
          <a:prstGeom prst="rect">
            <a:avLst/>
          </a:prstGeom>
          <a:noFill/>
        </p:spPr>
        <p:txBody>
          <a:bodyPr wrap="square" lIns="0" rIns="0" tIns="0" bIns="0">
            <a:spAutoFit/>
          </a:bodyPr>
          <a:lstStyle/>
          <a:p>
            <a:pPr>
              <a:lnSpc>
                <a:spcPct val="110000"/>
              </a:lnSpc>
              <a:spcAft>
                <a:spcPts val="700"/>
              </a:spcAft>
              <a:defRPr sz="1700" b="0">
                <a:solidFill>
                  <a:srgbClr val="252329"/>
                </a:solidFill>
                <a:latin typeface="Liberation Sans"/>
              </a:defRPr>
            </a:pPr>
            <a:r>
              <a:rPr lang="en-GB"/>
              <a:t>Pigou expects continuing taxes to weaken work and saving more.</a:t>
            </a:r>
          </a:p>
        </p:txBody>
      </p:sp>
      <p:sp>
        <p:nvSpPr>
          <p:cNvPr id="25" name="Rectangle 24"/>
          <p:cNvSpPr/>
          <p:nvPr/>
        </p:nvSpPr>
        <p:spPr>
          <a:xfrm>
            <a:off x="548640" y="4800600"/>
            <a:ext cx="11091672" cy="667512"/>
          </a:xfrm>
          <a:prstGeom prst="rect">
            <a:avLst/>
          </a:prstGeom>
          <a:solidFill>
            <a:srgbClr val="F4EE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22376" y="4864608"/>
            <a:ext cx="3730752" cy="566928"/>
          </a:xfrm>
          <a:prstGeom prst="rect">
            <a:avLst/>
          </a:prstGeom>
          <a:noFill/>
        </p:spPr>
        <p:txBody>
          <a:bodyPr wrap="square" lIns="0" rIns="0" tIns="0" bIns="0">
            <a:spAutoFit/>
          </a:bodyPr>
          <a:lstStyle/>
          <a:p>
            <a:pPr>
              <a:lnSpc>
                <a:spcPct val="110000"/>
              </a:lnSpc>
              <a:spcAft>
                <a:spcPts val="700"/>
              </a:spcAft>
              <a:defRPr sz="1700" b="1">
                <a:solidFill>
                  <a:srgbClr val="822433"/>
                </a:solidFill>
                <a:latin typeface="Liberation Sans"/>
              </a:defRPr>
            </a:pPr>
            <a:r>
              <a:rPr lang="en-GB"/>
              <a:t>Bank credit expands without matching saving</a:t>
            </a:r>
          </a:p>
        </p:txBody>
      </p:sp>
      <p:sp>
        <p:nvSpPr>
          <p:cNvPr id="27" name="TextBox 26"/>
          <p:cNvSpPr txBox="1"/>
          <p:nvPr/>
        </p:nvSpPr>
        <p:spPr>
          <a:xfrm>
            <a:off x="4599432" y="4864608"/>
            <a:ext cx="6784848" cy="566928"/>
          </a:xfrm>
          <a:prstGeom prst="rect">
            <a:avLst/>
          </a:prstGeom>
          <a:noFill/>
        </p:spPr>
        <p:txBody>
          <a:bodyPr wrap="square" lIns="0" rIns="0" tIns="0" bIns="0">
            <a:spAutoFit/>
          </a:bodyPr>
          <a:lstStyle/>
          <a:p>
            <a:pPr>
              <a:lnSpc>
                <a:spcPct val="110000"/>
              </a:lnSpc>
              <a:spcAft>
                <a:spcPts val="700"/>
              </a:spcAft>
              <a:defRPr sz="1700" b="0">
                <a:solidFill>
                  <a:srgbClr val="252329"/>
                </a:solidFill>
                <a:latin typeface="Liberation Sans"/>
              </a:defRPr>
            </a:pPr>
            <a:r>
              <a:rPr lang="en-GB"/>
              <a:t>Extra spending puts pressure on prices; the inflation examples are simplified.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IV · WHAT COUNTS AS A CONTRIBUTION</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What does success really mean for a war loan?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The financial total is useful only if it helps the state obtain actual productive resources.</a:t>
            </a:r>
          </a:p>
        </p:txBody>
      </p:sp>
      <p:sp>
        <p:nvSpPr>
          <p:cNvPr id="7" name="Rectangle 6"/>
          <p:cNvSpPr/>
          <p:nvPr/>
        </p:nvSpPr>
        <p:spPr>
          <a:xfrm>
            <a:off x="502920" y="5687568"/>
            <a:ext cx="11183112" cy="5943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5824728"/>
            <a:ext cx="10771632" cy="365760"/>
          </a:xfrm>
          <a:prstGeom prst="rect">
            <a:avLst/>
          </a:prstGeom>
          <a:noFill/>
        </p:spPr>
        <p:txBody>
          <a:bodyPr wrap="square" lIns="0" rIns="0" tIns="0" bIns="0">
            <a:spAutoFit/>
          </a:bodyPr>
          <a:lstStyle/>
          <a:p>
            <a:pPr>
              <a:lnSpc>
                <a:spcPct val="110000"/>
              </a:lnSpc>
              <a:spcAft>
                <a:spcPts val="700"/>
              </a:spcAft>
              <a:defRPr sz="1800" b="1">
                <a:solidFill>
                  <a:srgbClr val="FFFFFF"/>
                </a:solidFill>
                <a:latin typeface="Liberation Sans"/>
              </a:defRPr>
            </a:pPr>
            <a:r>
              <a:rPr lang="en-GB"/>
              <a:t>No financial device can give the state resources that have already been used for private purposes.</a:t>
            </a:r>
          </a:p>
        </p:txBody>
      </p:sp>
      <p:cxnSp>
        <p:nvCxnSpPr>
          <p:cNvPr id="9" name="Connector 8"/>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11" name="TextBox 10"/>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Pigou (1917), pp. 20–25</a:t>
            </a:r>
          </a:p>
        </p:txBody>
      </p:sp>
      <p:sp>
        <p:nvSpPr>
          <p:cNvPr id="12" name="TextBox 11"/>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23</a:t>
            </a:r>
          </a:p>
        </p:txBody>
      </p:sp>
      <p:sp>
        <p:nvSpPr>
          <p:cNvPr id="13" name="TextBox 12"/>
          <p:cNvSpPr txBox="1"/>
          <p:nvPr/>
        </p:nvSpPr>
        <p:spPr>
          <a:xfrm>
            <a:off x="548640" y="1956816"/>
            <a:ext cx="3502152" cy="768096"/>
          </a:xfrm>
          <a:prstGeom prst="rect">
            <a:avLst/>
          </a:prstGeom>
          <a:noFill/>
        </p:spPr>
        <p:txBody>
          <a:bodyPr wrap="square" lIns="0" rIns="0" tIns="0" bIns="0">
            <a:spAutoFit/>
          </a:bodyPr>
          <a:lstStyle/>
          <a:p>
            <a:pPr>
              <a:lnSpc>
                <a:spcPct val="110000"/>
              </a:lnSpc>
              <a:spcAft>
                <a:spcPts val="700"/>
              </a:spcAft>
              <a:defRPr sz="4200" b="1">
                <a:solidFill>
                  <a:srgbClr val="BA9360"/>
                </a:solidFill>
                <a:latin typeface="Liberation Sans"/>
              </a:defRPr>
            </a:pPr>
            <a:r>
              <a:rPr lang="en-GB"/>
              <a:t>01</a:t>
            </a:r>
          </a:p>
        </p:txBody>
      </p:sp>
      <p:sp>
        <p:nvSpPr>
          <p:cNvPr id="14" name="TextBox 13"/>
          <p:cNvSpPr txBox="1"/>
          <p:nvPr/>
        </p:nvSpPr>
        <p:spPr>
          <a:xfrm>
            <a:off x="548640" y="2770632"/>
            <a:ext cx="3502152" cy="603504"/>
          </a:xfrm>
          <a:prstGeom prst="rect">
            <a:avLst/>
          </a:prstGeom>
          <a:noFill/>
        </p:spPr>
        <p:txBody>
          <a:bodyPr wrap="square" lIns="0" rIns="0" tIns="0" bIns="0">
            <a:spAutoFit/>
          </a:bodyPr>
          <a:lstStyle/>
          <a:p>
            <a:pPr>
              <a:lnSpc>
                <a:spcPct val="110000"/>
              </a:lnSpc>
              <a:spcAft>
                <a:spcPts val="700"/>
              </a:spcAft>
              <a:defRPr sz="2200" b="1">
                <a:solidFill>
                  <a:srgbClr val="822433"/>
                </a:solidFill>
                <a:latin typeface="Liberation Sans"/>
              </a:defRPr>
            </a:pPr>
            <a:r>
              <a:rPr lang="en-GB"/>
              <a:t>Start with scarcity</a:t>
            </a:r>
          </a:p>
        </p:txBody>
      </p:sp>
      <p:sp>
        <p:nvSpPr>
          <p:cNvPr id="15" name="TextBox 14"/>
          <p:cNvSpPr txBox="1"/>
          <p:nvPr/>
        </p:nvSpPr>
        <p:spPr>
          <a:xfrm>
            <a:off x="548640" y="3648456"/>
            <a:ext cx="3429000" cy="1600200"/>
          </a:xfrm>
          <a:prstGeom prst="rect">
            <a:avLst/>
          </a:prstGeom>
          <a:noFill/>
        </p:spPr>
        <p:txBody>
          <a:bodyPr wrap="square" lIns="0" rIns="0" tIns="0" bIns="0">
            <a:spAutoFit/>
          </a:bodyPr>
          <a:lstStyle/>
          <a:p>
            <a:pPr>
              <a:lnSpc>
                <a:spcPct val="110000"/>
              </a:lnSpc>
              <a:spcAft>
                <a:spcPts val="700"/>
              </a:spcAft>
              <a:defRPr sz="2300" b="0">
                <a:solidFill>
                  <a:srgbClr val="252329"/>
                </a:solidFill>
                <a:latin typeface="Liberation Sans"/>
              </a:defRPr>
            </a:pPr>
            <a:r>
              <a:rPr lang="en-GB"/>
              <a:t>Because labour and machines are limited, every private use has an opportunity cost.</a:t>
            </a:r>
          </a:p>
        </p:txBody>
      </p:sp>
      <p:sp>
        <p:nvSpPr>
          <p:cNvPr id="16" name="TextBox 15"/>
          <p:cNvSpPr txBox="1"/>
          <p:nvPr/>
        </p:nvSpPr>
        <p:spPr>
          <a:xfrm>
            <a:off x="4343400" y="1956816"/>
            <a:ext cx="3502152" cy="768096"/>
          </a:xfrm>
          <a:prstGeom prst="rect">
            <a:avLst/>
          </a:prstGeom>
          <a:noFill/>
        </p:spPr>
        <p:txBody>
          <a:bodyPr wrap="square" lIns="0" rIns="0" tIns="0" bIns="0">
            <a:spAutoFit/>
          </a:bodyPr>
          <a:lstStyle/>
          <a:p>
            <a:pPr>
              <a:lnSpc>
                <a:spcPct val="110000"/>
              </a:lnSpc>
              <a:spcAft>
                <a:spcPts val="700"/>
              </a:spcAft>
              <a:defRPr sz="4200" b="1">
                <a:solidFill>
                  <a:srgbClr val="BA9360"/>
                </a:solidFill>
                <a:latin typeface="Liberation Sans"/>
              </a:defRPr>
            </a:pPr>
            <a:r>
              <a:rPr lang="en-GB"/>
              <a:t>02</a:t>
            </a:r>
          </a:p>
        </p:txBody>
      </p:sp>
      <p:sp>
        <p:nvSpPr>
          <p:cNvPr id="17" name="TextBox 16"/>
          <p:cNvSpPr txBox="1"/>
          <p:nvPr/>
        </p:nvSpPr>
        <p:spPr>
          <a:xfrm>
            <a:off x="4343400" y="2770632"/>
            <a:ext cx="3502152" cy="603504"/>
          </a:xfrm>
          <a:prstGeom prst="rect">
            <a:avLst/>
          </a:prstGeom>
          <a:noFill/>
        </p:spPr>
        <p:txBody>
          <a:bodyPr wrap="square" lIns="0" rIns="0" tIns="0" bIns="0">
            <a:spAutoFit/>
          </a:bodyPr>
          <a:lstStyle/>
          <a:p>
            <a:pPr>
              <a:lnSpc>
                <a:spcPct val="110000"/>
              </a:lnSpc>
              <a:spcAft>
                <a:spcPts val="700"/>
              </a:spcAft>
              <a:defRPr sz="2200" b="1">
                <a:solidFill>
                  <a:srgbClr val="822433"/>
                </a:solidFill>
                <a:latin typeface="Liberation Sans"/>
              </a:defRPr>
            </a:pPr>
            <a:r>
              <a:rPr lang="en-GB"/>
              <a:t>Trace the sacrifice</a:t>
            </a:r>
          </a:p>
        </p:txBody>
      </p:sp>
      <p:sp>
        <p:nvSpPr>
          <p:cNvPr id="18" name="TextBox 17"/>
          <p:cNvSpPr txBox="1"/>
          <p:nvPr/>
        </p:nvSpPr>
        <p:spPr>
          <a:xfrm>
            <a:off x="4343400" y="3648456"/>
            <a:ext cx="3429000" cy="1600200"/>
          </a:xfrm>
          <a:prstGeom prst="rect">
            <a:avLst/>
          </a:prstGeom>
          <a:noFill/>
        </p:spPr>
        <p:txBody>
          <a:bodyPr wrap="square" lIns="0" rIns="0" tIns="0" bIns="0">
            <a:spAutoFit/>
          </a:bodyPr>
          <a:lstStyle/>
          <a:p>
            <a:pPr>
              <a:lnSpc>
                <a:spcPct val="110000"/>
              </a:lnSpc>
              <a:spcAft>
                <a:spcPts val="700"/>
              </a:spcAft>
              <a:defRPr sz="2300" b="0">
                <a:solidFill>
                  <a:srgbClr val="252329"/>
                </a:solidFill>
                <a:latin typeface="Liberation Sans"/>
              </a:defRPr>
            </a:pPr>
            <a:r>
              <a:rPr lang="en-GB"/>
              <a:t>Because subscriptions have different funding sources, equal sums can impose different burdens.</a:t>
            </a:r>
          </a:p>
        </p:txBody>
      </p:sp>
      <p:sp>
        <p:nvSpPr>
          <p:cNvPr id="19" name="TextBox 18"/>
          <p:cNvSpPr txBox="1"/>
          <p:nvPr/>
        </p:nvSpPr>
        <p:spPr>
          <a:xfrm>
            <a:off x="8138160" y="1956816"/>
            <a:ext cx="3502152" cy="768096"/>
          </a:xfrm>
          <a:prstGeom prst="rect">
            <a:avLst/>
          </a:prstGeom>
          <a:noFill/>
        </p:spPr>
        <p:txBody>
          <a:bodyPr wrap="square" lIns="0" rIns="0" tIns="0" bIns="0">
            <a:spAutoFit/>
          </a:bodyPr>
          <a:lstStyle/>
          <a:p>
            <a:pPr>
              <a:lnSpc>
                <a:spcPct val="110000"/>
              </a:lnSpc>
              <a:spcAft>
                <a:spcPts val="700"/>
              </a:spcAft>
              <a:defRPr sz="4200" b="1">
                <a:solidFill>
                  <a:srgbClr val="BA9360"/>
                </a:solidFill>
                <a:latin typeface="Liberation Sans"/>
              </a:defRPr>
            </a:pPr>
            <a:r>
              <a:rPr lang="en-GB"/>
              <a:t>03</a:t>
            </a:r>
          </a:p>
        </p:txBody>
      </p:sp>
      <p:sp>
        <p:nvSpPr>
          <p:cNvPr id="20" name="TextBox 19"/>
          <p:cNvSpPr txBox="1"/>
          <p:nvPr/>
        </p:nvSpPr>
        <p:spPr>
          <a:xfrm>
            <a:off x="8138160" y="2770632"/>
            <a:ext cx="3502152" cy="603504"/>
          </a:xfrm>
          <a:prstGeom prst="rect">
            <a:avLst/>
          </a:prstGeom>
          <a:noFill/>
        </p:spPr>
        <p:txBody>
          <a:bodyPr wrap="square" lIns="0" rIns="0" tIns="0" bIns="0">
            <a:spAutoFit/>
          </a:bodyPr>
          <a:lstStyle/>
          <a:p>
            <a:pPr>
              <a:lnSpc>
                <a:spcPct val="110000"/>
              </a:lnSpc>
              <a:spcAft>
                <a:spcPts val="700"/>
              </a:spcAft>
              <a:defRPr sz="2200" b="1">
                <a:solidFill>
                  <a:srgbClr val="822433"/>
                </a:solidFill>
                <a:latin typeface="Liberation Sans"/>
              </a:defRPr>
            </a:pPr>
            <a:r>
              <a:rPr lang="en-GB"/>
              <a:t>Judge the real result</a:t>
            </a:r>
          </a:p>
        </p:txBody>
      </p:sp>
      <p:sp>
        <p:nvSpPr>
          <p:cNvPr id="21" name="TextBox 20"/>
          <p:cNvSpPr txBox="1"/>
          <p:nvPr/>
        </p:nvSpPr>
        <p:spPr>
          <a:xfrm>
            <a:off x="8138160" y="3648456"/>
            <a:ext cx="3429000" cy="1600200"/>
          </a:xfrm>
          <a:prstGeom prst="rect">
            <a:avLst/>
          </a:prstGeom>
          <a:noFill/>
        </p:spPr>
        <p:txBody>
          <a:bodyPr wrap="square" lIns="0" rIns="0" tIns="0" bIns="0">
            <a:spAutoFit/>
          </a:bodyPr>
          <a:lstStyle/>
          <a:p>
            <a:pPr>
              <a:lnSpc>
                <a:spcPct val="110000"/>
              </a:lnSpc>
              <a:spcAft>
                <a:spcPts val="700"/>
              </a:spcAft>
              <a:defRPr sz="2300" b="0">
                <a:solidFill>
                  <a:srgbClr val="252329"/>
                </a:solidFill>
                <a:latin typeface="Liberation Sans"/>
              </a:defRPr>
            </a:pPr>
            <a:r>
              <a:rPr lang="en-GB"/>
              <a:t>Because the state needs goods and services, genuine economy is the central practical duty.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46888"/>
            <a:ext cx="8229600" cy="228600"/>
          </a:xfrm>
          <a:prstGeom prst="rect">
            <a:avLst/>
          </a:prstGeom>
          <a:noFill/>
        </p:spPr>
        <p:txBody>
          <a:bodyPr wrap="square" lIns="0" rIns="0" tIns="0" bIns="0">
            <a:spAutoFit/>
          </a:bodyPr>
          <a:lstStyle/>
          <a:p>
            <a:pPr>
              <a:lnSpc>
                <a:spcPct val="110000"/>
              </a:lnSpc>
              <a:spcAft>
                <a:spcPts val="700"/>
              </a:spcAft>
              <a:defRPr sz="1000" b="1">
                <a:solidFill>
                  <a:srgbClr val="822433"/>
                </a:solidFill>
                <a:latin typeface="Liberation Sans"/>
              </a:defRPr>
            </a:pPr>
            <a:r>
              <a:rPr lang="en-GB"/>
              <a:t>SOURCES</a:t>
            </a:r>
          </a:p>
        </p:txBody>
      </p:sp>
      <p:sp>
        <p:nvSpPr>
          <p:cNvPr id="4" name="TextBox 3"/>
          <p:cNvSpPr txBox="1"/>
          <p:nvPr/>
        </p:nvSpPr>
        <p:spPr>
          <a:xfrm>
            <a:off x="9692640" y="210312"/>
            <a:ext cx="1993392" cy="228600"/>
          </a:xfrm>
          <a:prstGeom prst="rect">
            <a:avLst/>
          </a:prstGeom>
          <a:noFill/>
        </p:spPr>
        <p:txBody>
          <a:bodyPr wrap="square" lIns="0" rIns="0" tIns="0" bIns="0">
            <a:spAutoFit/>
          </a:bodyPr>
          <a:lstStyle/>
          <a:p>
            <a:pPr algn="r">
              <a:lnSpc>
                <a:spcPct val="110000"/>
              </a:lnSpc>
              <a:spcAft>
                <a:spcPts val="700"/>
              </a:spcAft>
              <a:defRPr sz="1000" b="0">
                <a:solidFill>
                  <a:srgbClr val="69656A"/>
                </a:solidFill>
                <a:latin typeface="Liberation Sans"/>
              </a:defRPr>
            </a:pPr>
            <a:r>
              <a:rPr lang="en-GB"/>
              <a:t>SAPIENZA · STATISTICS</a:t>
            </a:r>
          </a:p>
        </p:txBody>
      </p:sp>
      <p:sp>
        <p:nvSpPr>
          <p:cNvPr id="5" name="TextBox 4"/>
          <p:cNvSpPr txBox="1"/>
          <p:nvPr/>
        </p:nvSpPr>
        <p:spPr>
          <a:xfrm>
            <a:off x="502920" y="704088"/>
            <a:ext cx="11201400" cy="594360"/>
          </a:xfrm>
          <a:prstGeom prst="rect">
            <a:avLst/>
          </a:prstGeom>
          <a:noFill/>
        </p:spPr>
        <p:txBody>
          <a:bodyPr wrap="square" lIns="0" rIns="0" tIns="0" bIns="0">
            <a:spAutoFit/>
          </a:bodyPr>
          <a:lstStyle/>
          <a:p>
            <a:pPr>
              <a:lnSpc>
                <a:spcPct val="110000"/>
              </a:lnSpc>
              <a:spcAft>
                <a:spcPts val="700"/>
              </a:spcAft>
              <a:defRPr sz="3000" b="1">
                <a:solidFill>
                  <a:srgbClr val="822433"/>
                </a:solidFill>
                <a:latin typeface="Liberation Sans"/>
              </a:defRPr>
            </a:pPr>
            <a:r>
              <a:rPr lang="en-GB"/>
              <a:t>References and discussion</a:t>
            </a:r>
          </a:p>
        </p:txBody>
      </p:sp>
      <p:sp>
        <p:nvSpPr>
          <p:cNvPr id="6" name="TextBox 5"/>
          <p:cNvSpPr txBox="1"/>
          <p:nvPr/>
        </p:nvSpPr>
        <p:spPr>
          <a:xfrm>
            <a:off x="521207" y="1353312"/>
            <a:ext cx="11018520" cy="420624"/>
          </a:xfrm>
          <a:prstGeom prst="rect">
            <a:avLst/>
          </a:prstGeom>
          <a:noFill/>
        </p:spPr>
        <p:txBody>
          <a:bodyPr wrap="square" lIns="0" rIns="0" tIns="0" bIns="0">
            <a:spAutoFit/>
          </a:bodyPr>
          <a:lstStyle/>
          <a:p>
            <a:pPr>
              <a:lnSpc>
                <a:spcPct val="110000"/>
              </a:lnSpc>
              <a:spcAft>
                <a:spcPts val="700"/>
              </a:spcAft>
              <a:defRPr sz="1700" b="0">
                <a:solidFill>
                  <a:srgbClr val="69656A"/>
                </a:solidFill>
                <a:latin typeface="Liberation Sans"/>
              </a:defRPr>
            </a:pPr>
            <a:r>
              <a:rPr lang="en-GB"/>
              <a:t>Article presentation by Mojtaba Alinejad · Professor Marcella Corsi</a:t>
            </a:r>
          </a:p>
        </p:txBody>
      </p:sp>
      <p:cxnSp>
        <p:nvCxnSpPr>
          <p:cNvPr id="7" name="Connector 6"/>
          <p:cNvCxnSpPr/>
          <p:nvPr/>
        </p:nvCxnSpPr>
        <p:spPr>
          <a:xfrm>
            <a:off x="502920" y="6428232"/>
            <a:ext cx="11183112" cy="0"/>
          </a:xfrm>
          <a:prstGeom prst="line">
            <a:avLst/>
          </a:prstGeom>
          <a:ln w="15240">
            <a:solidFill>
              <a:srgbClr val="DDD7D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9672"/>
            <a:ext cx="4663440" cy="182880"/>
          </a:xfrm>
          <a:prstGeom prst="rect">
            <a:avLst/>
          </a:prstGeom>
          <a:noFill/>
        </p:spPr>
        <p:txBody>
          <a:bodyPr wrap="square" lIns="0" rIns="0" tIns="0" bIns="0">
            <a:spAutoFit/>
          </a:bodyPr>
          <a:lstStyle/>
          <a:p>
            <a:pPr>
              <a:lnSpc>
                <a:spcPct val="110000"/>
              </a:lnSpc>
              <a:spcAft>
                <a:spcPts val="700"/>
              </a:spcAft>
              <a:defRPr sz="950" b="0">
                <a:solidFill>
                  <a:srgbClr val="69656A"/>
                </a:solidFill>
                <a:latin typeface="Liberation Sans"/>
              </a:defRPr>
            </a:pPr>
            <a:r>
              <a:rPr lang="en-GB"/>
              <a:t>Mojtaba Alinejad  |  Department of Statistical Sciences</a:t>
            </a:r>
          </a:p>
        </p:txBody>
      </p:sp>
      <p:sp>
        <p:nvSpPr>
          <p:cNvPr id="9" name="TextBox 8"/>
          <p:cNvSpPr txBox="1"/>
          <p:nvPr/>
        </p:nvSpPr>
        <p:spPr>
          <a:xfrm>
            <a:off x="5166360" y="6519672"/>
            <a:ext cx="5943600" cy="182880"/>
          </a:xfrm>
          <a:prstGeom prst="rect">
            <a:avLst/>
          </a:prstGeom>
          <a:noFill/>
        </p:spPr>
        <p:txBody>
          <a:bodyPr wrap="square" lIns="0" rIns="0" tIns="0" bIns="0">
            <a:spAutoFit/>
          </a:bodyPr>
          <a:lstStyle/>
          <a:p>
            <a:pPr algn="r">
              <a:lnSpc>
                <a:spcPct val="110000"/>
              </a:lnSpc>
              <a:spcAft>
                <a:spcPts val="700"/>
              </a:spcAft>
              <a:defRPr sz="950" b="0">
                <a:solidFill>
                  <a:srgbClr val="69656A"/>
                </a:solidFill>
                <a:latin typeface="Liberation Sans"/>
              </a:defRPr>
            </a:pPr>
            <a:r>
              <a:rPr lang="en-GB"/>
              <a:t>Sapienza University · Department of Statistical Sciences</a:t>
            </a:r>
          </a:p>
        </p:txBody>
      </p:sp>
      <p:sp>
        <p:nvSpPr>
          <p:cNvPr id="10" name="TextBox 9"/>
          <p:cNvSpPr txBox="1"/>
          <p:nvPr/>
        </p:nvSpPr>
        <p:spPr>
          <a:xfrm>
            <a:off x="11247120" y="6483096"/>
            <a:ext cx="438912" cy="246888"/>
          </a:xfrm>
          <a:prstGeom prst="rect">
            <a:avLst/>
          </a:prstGeom>
          <a:noFill/>
        </p:spPr>
        <p:txBody>
          <a:bodyPr wrap="square" lIns="0" rIns="0" tIns="0" bIns="0">
            <a:spAutoFit/>
          </a:bodyPr>
          <a:lstStyle/>
          <a:p>
            <a:pPr algn="r">
              <a:lnSpc>
                <a:spcPct val="110000"/>
              </a:lnSpc>
              <a:spcAft>
                <a:spcPts val="700"/>
              </a:spcAft>
              <a:defRPr sz="1300" b="1">
                <a:solidFill>
                  <a:srgbClr val="822433"/>
                </a:solidFill>
                <a:latin typeface="Liberation Sans"/>
              </a:defRPr>
            </a:pPr>
            <a:r>
              <a:rPr lang="en-GB"/>
              <a:t>24</a:t>
            </a:r>
          </a:p>
        </p:txBody>
      </p:sp>
      <p:sp>
        <p:nvSpPr>
          <p:cNvPr id="11" name="TextBox 10"/>
          <p:cNvSpPr txBox="1"/>
          <p:nvPr/>
        </p:nvSpPr>
        <p:spPr>
          <a:xfrm>
            <a:off x="621792" y="1920240"/>
            <a:ext cx="10927080" cy="411480"/>
          </a:xfrm>
          <a:prstGeom prst="rect">
            <a:avLst/>
          </a:prstGeom>
          <a:noFill/>
        </p:spPr>
        <p:txBody>
          <a:bodyPr wrap="square" lIns="0" rIns="0" tIns="0" bIns="0">
            <a:spAutoFit/>
          </a:bodyPr>
          <a:lstStyle/>
          <a:p>
            <a:pPr>
              <a:lnSpc>
                <a:spcPct val="110000"/>
              </a:lnSpc>
              <a:spcAft>
                <a:spcPts val="700"/>
              </a:spcAft>
              <a:defRPr sz="2200" b="1">
                <a:solidFill>
                  <a:srgbClr val="822433"/>
                </a:solidFill>
                <a:latin typeface="Liberation Sans"/>
              </a:defRPr>
            </a:pPr>
            <a:r>
              <a:rPr lang="en-GB"/>
              <a:t>Primary source</a:t>
            </a:r>
          </a:p>
        </p:txBody>
      </p:sp>
      <p:sp>
        <p:nvSpPr>
          <p:cNvPr id="12" name="TextBox 11"/>
          <p:cNvSpPr txBox="1"/>
          <p:nvPr/>
        </p:nvSpPr>
        <p:spPr>
          <a:xfrm>
            <a:off x="621792" y="2468880"/>
            <a:ext cx="10927080" cy="950976"/>
          </a:xfrm>
          <a:prstGeom prst="rect">
            <a:avLst/>
          </a:prstGeom>
          <a:noFill/>
        </p:spPr>
        <p:txBody>
          <a:bodyPr wrap="square" lIns="0" rIns="0" tIns="0" bIns="0">
            <a:spAutoFit/>
          </a:bodyPr>
          <a:lstStyle/>
          <a:p>
            <a:pPr>
              <a:lnSpc>
                <a:spcPct val="110000"/>
              </a:lnSpc>
              <a:spcAft>
                <a:spcPts val="700"/>
              </a:spcAft>
              <a:defRPr sz="2100" b="0">
                <a:solidFill>
                  <a:srgbClr val="252329"/>
                </a:solidFill>
                <a:latin typeface="Liberation Sans"/>
              </a:defRPr>
            </a:pPr>
            <a:r>
              <a:rPr lang="en-GB"/>
              <a:t>Pigou, A. C. (1917). “The Economics of the War Loan.”</a:t>
            </a:r>
          </a:p>
          <a:p>
            <a:pPr>
              <a:lnSpc>
                <a:spcPct val="110000"/>
              </a:lnSpc>
              <a:spcAft>
                <a:spcPts val="700"/>
              </a:spcAft>
              <a:defRPr sz="2100" b="0">
                <a:solidFill>
                  <a:srgbClr val="252329"/>
                </a:solidFill>
                <a:latin typeface="Liberation Sans"/>
              </a:defRPr>
            </a:pPr>
            <a:r>
              <a:rPr lang="en-GB"/>
              <a:t>The Economic Journal, 27(105), 16–25. https://www.jstor.org/stable/2222395</a:t>
            </a:r>
          </a:p>
        </p:txBody>
      </p:sp>
      <p:sp>
        <p:nvSpPr>
          <p:cNvPr id="13" name="TextBox 12"/>
          <p:cNvSpPr txBox="1"/>
          <p:nvPr/>
        </p:nvSpPr>
        <p:spPr>
          <a:xfrm>
            <a:off x="621792" y="3602736"/>
            <a:ext cx="10927080" cy="950976"/>
          </a:xfrm>
          <a:prstGeom prst="rect">
            <a:avLst/>
          </a:prstGeom>
          <a:noFill/>
        </p:spPr>
        <p:txBody>
          <a:bodyPr wrap="square" lIns="0" rIns="0" tIns="0" bIns="0">
            <a:spAutoFit/>
          </a:bodyPr>
          <a:lstStyle/>
          <a:p>
            <a:pPr>
              <a:lnSpc>
                <a:spcPct val="110000"/>
              </a:lnSpc>
              <a:spcAft>
                <a:spcPts val="700"/>
              </a:spcAft>
              <a:defRPr sz="1600" b="0">
                <a:solidFill>
                  <a:srgbClr val="69656A"/>
                </a:solidFill>
                <a:latin typeface="Liberation Sans"/>
              </a:defRPr>
            </a:pPr>
            <a:r>
              <a:rPr lang="en-GB"/>
              <a:t>Sources and visual credits: the article scan comes from the uploaded PDF. The Sapienza emblem is reproduced from andrea-gasparini/sapienza-beamer-template (assets/logo_RGB.png). All diagrams are explanatory illustrations, not historical data.</a:t>
            </a:r>
          </a:p>
        </p:txBody>
      </p:sp>
      <p:sp>
        <p:nvSpPr>
          <p:cNvPr id="14" name="Rectangle 13"/>
          <p:cNvSpPr/>
          <p:nvPr/>
        </p:nvSpPr>
        <p:spPr>
          <a:xfrm>
            <a:off x="548640" y="4910328"/>
            <a:ext cx="11091672" cy="1280160"/>
          </a:xfrm>
          <a:prstGeom prst="rect">
            <a:avLst/>
          </a:prstGeom>
          <a:solidFill>
            <a:srgbClr val="8224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04672" y="5111496"/>
            <a:ext cx="10579608" cy="950976"/>
          </a:xfrm>
          <a:prstGeom prst="rect">
            <a:avLst/>
          </a:prstGeom>
          <a:noFill/>
        </p:spPr>
        <p:txBody>
          <a:bodyPr wrap="square" lIns="0" rIns="0" tIns="0" bIns="0">
            <a:spAutoFit/>
          </a:bodyPr>
          <a:lstStyle/>
          <a:p>
            <a:pPr>
              <a:lnSpc>
                <a:spcPct val="110000"/>
              </a:lnSpc>
              <a:spcAft>
                <a:spcPts val="700"/>
              </a:spcAft>
              <a:defRPr sz="2500" b="1">
                <a:solidFill>
                  <a:srgbClr val="FFFFFF"/>
                </a:solidFill>
                <a:latin typeface="Liberation Sans"/>
              </a:defRPr>
            </a:pPr>
            <a:r>
              <a:rPr lang="en-GB"/>
              <a:t>Should a war loan be judged by the money it raises,</a:t>
            </a:r>
          </a:p>
          <a:p>
            <a:pPr>
              <a:lnSpc>
                <a:spcPct val="110000"/>
              </a:lnSpc>
              <a:spcAft>
                <a:spcPts val="700"/>
              </a:spcAft>
              <a:defRPr sz="2500" b="1">
                <a:solidFill>
                  <a:srgbClr val="FFFFFF"/>
                </a:solidFill>
                <a:latin typeface="Liberation Sans"/>
              </a:defRPr>
            </a:pPr>
            <a:r>
              <a:rPr lang="en-GB"/>
              <a:t>or by the resources it releases—and who gives them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the War Loan — A. C. Pigou (1917)</dc:title>
  <dc:subject>Sapienza University · Department of Statistical Sciences</dc:subject>
  <dc:creator>Mojtaba Alinejad</dc:creator>
  <cp:keywords>Pigou, war finance, Marcella Corsi, Sapienza, taxation, borrowing, inflation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